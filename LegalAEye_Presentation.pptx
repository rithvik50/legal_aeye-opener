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Old Standard TT"/>
      <p:regular r:id="rId31"/>
      <p:bold r:id="rId32"/>
      <p: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912298-9140-4E2E-9BE6-FB8BE352CC43}">
  <a:tblStyle styleId="{0C912298-9140-4E2E-9BE6-FB8BE352CC4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ldStandardTT-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OldStandardTT-italic.fntdata"/><Relationship Id="rId10" Type="http://schemas.openxmlformats.org/officeDocument/2006/relationships/slide" Target="slides/slide4.xml"/><Relationship Id="rId32" Type="http://schemas.openxmlformats.org/officeDocument/2006/relationships/font" Target="fonts/OldStandardTT-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081a00c53_2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g34081a00c53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081a00c53_2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34081a00c53_2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51184b0cc5_0_19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g351184b0cc5_0_19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51184b0cc5_0_1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51184b0cc5_0_1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51184b0cc5_0_1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51184b0cc5_0_1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51184b0cc5_0_1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51184b0cc5_0_1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51184b0cc5_0_1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51184b0cc5_0_1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51184b0cc5_0_1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51184b0cc5_0_1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081a00c53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4081a00c53_2_5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081a00c53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4081a00c53_2_6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4081a00c5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4081a00c5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4081a00c5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4081a00c5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5bfd93b6e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35bfd93b6e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51184b0cc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51184b0cc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51184b0cc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51184b0cc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1184b0cc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51184b0cc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51184b0cc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51184b0cc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4fca5409f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4fca5409f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1184b0cc5_0_2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51184b0cc5_0_2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1184b0cc5_0_20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51184b0cc5_0_2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1184b0cc5_0_2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51184b0cc5_0_2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1184b0cc5_0_19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51184b0cc5_0_19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51184b0cc5_0_2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51184b0cc5_0_2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4081a00c53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4081a00c53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ieeexplore.ieee.org/xpl/conhome/10779585/proceed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evgan.i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ieeexplore.ieee.org/xpl/conhome/10779585/proceedin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57650"/>
            <a:ext cx="8118600" cy="1522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b="1" lang="en"/>
              <a:t>Legal AEye-Opener</a:t>
            </a:r>
            <a:endParaRPr b="1"/>
          </a:p>
        </p:txBody>
      </p:sp>
      <p:sp>
        <p:nvSpPr>
          <p:cNvPr id="60" name="Google Shape;60;p13"/>
          <p:cNvSpPr txBox="1"/>
          <p:nvPr>
            <p:ph idx="1" type="subTitle"/>
          </p:nvPr>
        </p:nvSpPr>
        <p:spPr>
          <a:xfrm>
            <a:off x="512700" y="2147325"/>
            <a:ext cx="8118600" cy="2498700"/>
          </a:xfrm>
          <a:prstGeom prst="rect">
            <a:avLst/>
          </a:prstGeom>
          <a:noFill/>
          <a:ln>
            <a:noFill/>
          </a:ln>
        </p:spPr>
        <p:txBody>
          <a:bodyPr anchorCtr="0" anchor="t" bIns="91425" lIns="91425" spcFirstLastPara="1" rIns="91425" wrap="square" tIns="91425">
            <a:normAutofit fontScale="85000" lnSpcReduction="20000"/>
          </a:bodyPr>
          <a:lstStyle/>
          <a:p>
            <a:pPr indent="457200" lvl="0" marL="914400" marR="0" rtl="0" algn="l">
              <a:lnSpc>
                <a:spcPct val="100000"/>
              </a:lnSpc>
              <a:spcBef>
                <a:spcPts val="0"/>
              </a:spcBef>
              <a:spcAft>
                <a:spcPts val="0"/>
              </a:spcAft>
              <a:buSzPct val="116666"/>
              <a:buNone/>
            </a:pPr>
            <a:r>
              <a:rPr b="1" lang="en"/>
              <a:t>Guide: Assistant Professor P Kokila</a:t>
            </a:r>
            <a:endParaRPr b="1"/>
          </a:p>
          <a:p>
            <a:pPr indent="0" lvl="0" marL="0" marR="0" rtl="0" algn="ctr">
              <a:lnSpc>
                <a:spcPct val="100000"/>
              </a:lnSpc>
              <a:spcBef>
                <a:spcPts val="0"/>
              </a:spcBef>
              <a:spcAft>
                <a:spcPts val="0"/>
              </a:spcAft>
              <a:buSzPct val="116666"/>
              <a:buNone/>
            </a:pPr>
            <a:r>
              <a:t/>
            </a:r>
            <a:endParaRPr b="1"/>
          </a:p>
          <a:p>
            <a:pPr indent="0" lvl="0" marL="0" marR="0" rtl="0" algn="ctr">
              <a:lnSpc>
                <a:spcPct val="100000"/>
              </a:lnSpc>
              <a:spcBef>
                <a:spcPts val="0"/>
              </a:spcBef>
              <a:spcAft>
                <a:spcPts val="0"/>
              </a:spcAft>
              <a:buSzPct val="116666"/>
              <a:buNone/>
            </a:pPr>
            <a:r>
              <a:t/>
            </a:r>
            <a:endParaRPr b="1"/>
          </a:p>
          <a:p>
            <a:pPr indent="457200" lvl="0" marL="914400" marR="0" rtl="0" algn="l">
              <a:lnSpc>
                <a:spcPct val="100000"/>
              </a:lnSpc>
              <a:spcBef>
                <a:spcPts val="0"/>
              </a:spcBef>
              <a:spcAft>
                <a:spcPts val="0"/>
              </a:spcAft>
              <a:buSzPct val="116666"/>
              <a:buNone/>
            </a:pPr>
            <a:r>
              <a:rPr b="1" lang="en"/>
              <a:t>Team Members:</a:t>
            </a:r>
            <a:endParaRPr b="1"/>
          </a:p>
          <a:p>
            <a:pPr indent="457200" lvl="0" marL="914400" marR="0" rtl="0" algn="l">
              <a:lnSpc>
                <a:spcPct val="100000"/>
              </a:lnSpc>
              <a:spcBef>
                <a:spcPts val="0"/>
              </a:spcBef>
              <a:spcAft>
                <a:spcPts val="0"/>
              </a:spcAft>
              <a:buSzPct val="116666"/>
              <a:buNone/>
            </a:pPr>
            <a:r>
              <a:t/>
            </a:r>
            <a:endParaRPr b="1"/>
          </a:p>
          <a:p>
            <a:pPr indent="457200" lvl="0" marL="914400" marR="0" rtl="0" algn="l">
              <a:lnSpc>
                <a:spcPct val="100000"/>
              </a:lnSpc>
              <a:spcBef>
                <a:spcPts val="0"/>
              </a:spcBef>
              <a:spcAft>
                <a:spcPts val="0"/>
              </a:spcAft>
              <a:buSzPct val="116666"/>
              <a:buNone/>
            </a:pPr>
            <a:r>
              <a:rPr b="1" lang="en"/>
              <a:t>Rithvik Muthyalapati 	PES2UG22CS451</a:t>
            </a:r>
            <a:endParaRPr b="1"/>
          </a:p>
          <a:p>
            <a:pPr indent="457200" lvl="0" marL="914400" marR="0" rtl="0" algn="l">
              <a:lnSpc>
                <a:spcPct val="100000"/>
              </a:lnSpc>
              <a:spcBef>
                <a:spcPts val="0"/>
              </a:spcBef>
              <a:spcAft>
                <a:spcPts val="0"/>
              </a:spcAft>
              <a:buSzPct val="116666"/>
              <a:buNone/>
            </a:pPr>
            <a:r>
              <a:rPr b="1" lang="en"/>
              <a:t>Rohan S				PES2UG22CS456</a:t>
            </a:r>
            <a:endParaRPr b="1"/>
          </a:p>
          <a:p>
            <a:pPr indent="457200" lvl="0" marL="914400" marR="0" rtl="0" algn="l">
              <a:lnSpc>
                <a:spcPct val="100000"/>
              </a:lnSpc>
              <a:spcBef>
                <a:spcPts val="0"/>
              </a:spcBef>
              <a:spcAft>
                <a:spcPts val="0"/>
              </a:spcAft>
              <a:buSzPct val="116666"/>
              <a:buNone/>
            </a:pPr>
            <a:r>
              <a:rPr b="1" lang="en"/>
              <a:t>Rishi Subramanya		PES2UG22CS445</a:t>
            </a:r>
            <a:endParaRPr b="1"/>
          </a:p>
          <a:p>
            <a:pPr indent="457200" lvl="0" marL="914400" marR="0" rtl="0" algn="l">
              <a:lnSpc>
                <a:spcPct val="100000"/>
              </a:lnSpc>
              <a:spcBef>
                <a:spcPts val="0"/>
              </a:spcBef>
              <a:spcAft>
                <a:spcPts val="0"/>
              </a:spcAft>
              <a:buSzPct val="116666"/>
              <a:buNone/>
            </a:pPr>
            <a:r>
              <a:rPr b="1" lang="en"/>
              <a:t>Rhushya KC			PES2UG22CS440</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703"/>
              <a:buNone/>
            </a:pPr>
            <a:r>
              <a:rPr b="1" lang="en"/>
              <a:t>Problem Statement</a:t>
            </a:r>
            <a:endParaRPr b="1"/>
          </a:p>
        </p:txBody>
      </p:sp>
      <p:sp>
        <p:nvSpPr>
          <p:cNvPr id="66" name="Google Shape;66;p14"/>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n" sz="1900">
                <a:solidFill>
                  <a:schemeClr val="dk1"/>
                </a:solidFill>
              </a:rPr>
              <a:t>In the legal domain, individuals often struggle to determine the appropriate sections of the Bharatiya Nyaya Sanhita (BNS) applicable to specific crimes. Legal professionals and law enforcement officers require a quick and efficient way to reference relevant laws based on crime descriptions.</a:t>
            </a:r>
            <a:endParaRPr sz="1900">
              <a:solidFill>
                <a:schemeClr val="dk1"/>
              </a:solidFill>
            </a:endParaRPr>
          </a:p>
          <a:p>
            <a:pPr indent="0" lvl="0" marL="0" rtl="0" algn="l">
              <a:lnSpc>
                <a:spcPct val="115000"/>
              </a:lnSpc>
              <a:spcBef>
                <a:spcPts val="1200"/>
              </a:spcBef>
              <a:spcAft>
                <a:spcPts val="1200"/>
              </a:spcAft>
              <a:buSzPts val="1800"/>
              <a:buNone/>
            </a:pPr>
            <a:r>
              <a:rPr lang="en" sz="1900">
                <a:solidFill>
                  <a:schemeClr val="dk1"/>
                </a:solidFill>
              </a:rPr>
              <a:t>The challenge is to develop an AI-powered legal chatbot that can analyze user-input crime scenarios and provide relevant BNS sections, along with explanations and possible legal actions. The chatbot should be capable of handling diverse crime descriptions, understanding legal terminology, and ensuring accuracy in its responses.</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222775"/>
            <a:ext cx="8520600" cy="613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2800"/>
              <a:t>Abstract and Scope</a:t>
            </a:r>
            <a:endParaRPr b="1" sz="2800"/>
          </a:p>
        </p:txBody>
      </p:sp>
      <p:sp>
        <p:nvSpPr>
          <p:cNvPr id="72" name="Google Shape;72;p15"/>
          <p:cNvSpPr txBox="1"/>
          <p:nvPr>
            <p:ph idx="1" type="body"/>
          </p:nvPr>
        </p:nvSpPr>
        <p:spPr>
          <a:xfrm>
            <a:off x="311700" y="835975"/>
            <a:ext cx="8520600" cy="33972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770"/>
              <a:buFont typeface="Arial"/>
              <a:buNone/>
            </a:pPr>
            <a:r>
              <a:rPr lang="en" sz="1248"/>
              <a:t>This project aims to develop an AI-powered legal chatbot that utilizes Large Language Models (LLMs) with Retrieval-Augmented Generation (RAG) to provide users with instant, accurate, and context-aware legal assistance. The chatbot processes user-input crime descriptions, retrieves relevant BNS sections from a structured legal database, and generates simplified explanations along with possible legal actions. The use of RAG ensures that the chatbot does not rely solely on pre-trained knowledge but also fetches real-time, up-to-date legal information from trusted sources.</a:t>
            </a:r>
            <a:endParaRPr sz="1248"/>
          </a:p>
          <a:p>
            <a:pPr indent="0" lvl="0" marL="0" rtl="0" algn="l">
              <a:lnSpc>
                <a:spcPct val="95000"/>
              </a:lnSpc>
              <a:spcBef>
                <a:spcPts val="1400"/>
              </a:spcBef>
              <a:spcAft>
                <a:spcPts val="0"/>
              </a:spcAft>
              <a:buClr>
                <a:schemeClr val="dk1"/>
              </a:buClr>
              <a:buSzPts val="770"/>
              <a:buFont typeface="Arial"/>
              <a:buNone/>
            </a:pPr>
            <a:r>
              <a:rPr b="1" lang="en" sz="1248"/>
              <a:t>Scope of the Project</a:t>
            </a:r>
            <a:endParaRPr b="1" sz="1248"/>
          </a:p>
          <a:p>
            <a:pPr indent="-307870" lvl="0" marL="457200" rtl="0" algn="l">
              <a:lnSpc>
                <a:spcPct val="95000"/>
              </a:lnSpc>
              <a:spcBef>
                <a:spcPts val="1200"/>
              </a:spcBef>
              <a:spcAft>
                <a:spcPts val="0"/>
              </a:spcAft>
              <a:buClr>
                <a:schemeClr val="dk1"/>
              </a:buClr>
              <a:buSzPts val="1248"/>
              <a:buFont typeface="Arial"/>
              <a:buChar char="●"/>
            </a:pPr>
            <a:r>
              <a:rPr b="1" lang="en" sz="1248"/>
              <a:t>Crime Analysis:</a:t>
            </a:r>
            <a:r>
              <a:rPr lang="en" sz="1248"/>
              <a:t> Accepts user input describing a crime scenario and identifies the relevant legal aspects.</a:t>
            </a:r>
            <a:endParaRPr sz="1248"/>
          </a:p>
          <a:p>
            <a:pPr indent="-307870" lvl="0" marL="457200" rtl="0" algn="l">
              <a:lnSpc>
                <a:spcPct val="95000"/>
              </a:lnSpc>
              <a:spcBef>
                <a:spcPts val="0"/>
              </a:spcBef>
              <a:spcAft>
                <a:spcPts val="0"/>
              </a:spcAft>
              <a:buClr>
                <a:schemeClr val="dk1"/>
              </a:buClr>
              <a:buSzPts val="1248"/>
              <a:buFont typeface="Arial"/>
              <a:buChar char="●"/>
            </a:pPr>
            <a:r>
              <a:rPr b="1" lang="en" sz="1248"/>
              <a:t>Law Retrieval:</a:t>
            </a:r>
            <a:r>
              <a:rPr lang="en" sz="1248"/>
              <a:t> Uses RAG to fetch applicable IPC and BNS sections based on user queries.</a:t>
            </a:r>
            <a:endParaRPr sz="1248"/>
          </a:p>
          <a:p>
            <a:pPr indent="-307870" lvl="0" marL="457200" rtl="0" algn="l">
              <a:lnSpc>
                <a:spcPct val="95000"/>
              </a:lnSpc>
              <a:spcBef>
                <a:spcPts val="0"/>
              </a:spcBef>
              <a:spcAft>
                <a:spcPts val="0"/>
              </a:spcAft>
              <a:buClr>
                <a:schemeClr val="dk1"/>
              </a:buClr>
              <a:buSzPts val="1248"/>
              <a:buFont typeface="Arial"/>
              <a:buChar char="●"/>
            </a:pPr>
            <a:r>
              <a:rPr b="1" lang="en" sz="1248"/>
              <a:t>Legal Explanation:</a:t>
            </a:r>
            <a:r>
              <a:rPr lang="en" sz="1248"/>
              <a:t> Provides simplified explanations of legal provisions to make them understandable for common users.</a:t>
            </a:r>
            <a:endParaRPr sz="1248"/>
          </a:p>
          <a:p>
            <a:pPr indent="-307870" lvl="0" marL="457200" rtl="0" algn="l">
              <a:lnSpc>
                <a:spcPct val="95000"/>
              </a:lnSpc>
              <a:spcBef>
                <a:spcPts val="0"/>
              </a:spcBef>
              <a:spcAft>
                <a:spcPts val="0"/>
              </a:spcAft>
              <a:buClr>
                <a:schemeClr val="dk1"/>
              </a:buClr>
              <a:buSzPts val="1248"/>
              <a:buFont typeface="Arial"/>
              <a:buChar char="●"/>
            </a:pPr>
            <a:r>
              <a:rPr b="1" lang="en" sz="1248"/>
              <a:t>Suggested Legal Actions:</a:t>
            </a:r>
            <a:r>
              <a:rPr lang="en" sz="1248"/>
              <a:t> Offers guidance on the next steps, such as filing a complaint or contacting authorities.</a:t>
            </a:r>
            <a:endParaRPr sz="1248"/>
          </a:p>
          <a:p>
            <a:pPr indent="-307870" lvl="0" marL="457200" rtl="0" algn="l">
              <a:lnSpc>
                <a:spcPct val="95000"/>
              </a:lnSpc>
              <a:spcBef>
                <a:spcPts val="0"/>
              </a:spcBef>
              <a:spcAft>
                <a:spcPts val="0"/>
              </a:spcAft>
              <a:buClr>
                <a:schemeClr val="dk1"/>
              </a:buClr>
              <a:buSzPts val="1248"/>
              <a:buFont typeface="Arial"/>
              <a:buChar char="●"/>
            </a:pPr>
            <a:r>
              <a:rPr b="1" lang="en" sz="1248"/>
              <a:t>Real-Time Legal Updates:</a:t>
            </a:r>
            <a:r>
              <a:rPr lang="en" sz="1248"/>
              <a:t> Ensures accuracy by dynamically retrieving legal information from updated sources.</a:t>
            </a:r>
            <a:endParaRPr sz="1248"/>
          </a:p>
          <a:p>
            <a:pPr indent="0" lvl="0" marL="0" rtl="0" algn="l">
              <a:lnSpc>
                <a:spcPct val="95000"/>
              </a:lnSpc>
              <a:spcBef>
                <a:spcPts val="1200"/>
              </a:spcBef>
              <a:spcAft>
                <a:spcPts val="0"/>
              </a:spcAft>
              <a:buClr>
                <a:schemeClr val="dk1"/>
              </a:buClr>
              <a:buSzPts val="770"/>
              <a:buFont typeface="Arial"/>
              <a:buNone/>
            </a:pPr>
            <a:r>
              <a:rPr b="1" lang="en" sz="1248"/>
              <a:t>Target Users</a:t>
            </a:r>
            <a:endParaRPr b="1" sz="1248"/>
          </a:p>
          <a:p>
            <a:pPr indent="0" lvl="0" marL="0" rtl="0" algn="l">
              <a:lnSpc>
                <a:spcPct val="95000"/>
              </a:lnSpc>
              <a:spcBef>
                <a:spcPts val="1200"/>
              </a:spcBef>
              <a:spcAft>
                <a:spcPts val="0"/>
              </a:spcAft>
              <a:buClr>
                <a:schemeClr val="dk1"/>
              </a:buClr>
              <a:buSzPts val="770"/>
              <a:buFont typeface="Arial"/>
              <a:buNone/>
            </a:pPr>
            <a:r>
              <a:rPr lang="en" sz="1248"/>
              <a:t> </a:t>
            </a:r>
            <a:r>
              <a:rPr b="1" lang="en" sz="1248"/>
              <a:t>General Public</a:t>
            </a:r>
            <a:r>
              <a:rPr lang="en" sz="1248"/>
              <a:t> – For legal awareness and understanding of laws.</a:t>
            </a:r>
            <a:br>
              <a:rPr lang="en" sz="1248"/>
            </a:br>
            <a:r>
              <a:rPr lang="en" sz="1248"/>
              <a:t> </a:t>
            </a:r>
            <a:r>
              <a:rPr b="1" lang="en" sz="1248"/>
              <a:t>Law Enforcement Officers</a:t>
            </a:r>
            <a:r>
              <a:rPr lang="en" sz="1248"/>
              <a:t> – For quick reference to legal provisions.</a:t>
            </a:r>
            <a:br>
              <a:rPr lang="en" sz="1248"/>
            </a:br>
            <a:r>
              <a:rPr lang="en" sz="1248"/>
              <a:t> </a:t>
            </a:r>
            <a:r>
              <a:rPr b="1" lang="en" sz="1248"/>
              <a:t>Legal Students &amp; Professionals</a:t>
            </a:r>
            <a:r>
              <a:rPr lang="en" sz="1248"/>
              <a:t> – To assist in case research.</a:t>
            </a:r>
            <a:br>
              <a:rPr lang="en" sz="1248"/>
            </a:br>
            <a:r>
              <a:rPr lang="en" sz="1248"/>
              <a:t> </a:t>
            </a:r>
            <a:r>
              <a:rPr b="1" lang="en" sz="1248"/>
              <a:t>NGOs &amp; Social Workers</a:t>
            </a:r>
            <a:r>
              <a:rPr lang="en" sz="1248"/>
              <a:t> – For legal aid and justice advocacy.</a:t>
            </a:r>
            <a:endParaRPr sz="1248"/>
          </a:p>
          <a:p>
            <a:pPr indent="0" lvl="0" marL="0" rtl="0" algn="l">
              <a:lnSpc>
                <a:spcPct val="95000"/>
              </a:lnSpc>
              <a:spcBef>
                <a:spcPts val="1200"/>
              </a:spcBef>
              <a:spcAft>
                <a:spcPts val="1200"/>
              </a:spcAft>
              <a:buSzPts val="770"/>
              <a:buNone/>
            </a:pPr>
            <a:r>
              <a:t/>
            </a:r>
            <a:endParaRPr sz="107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Literature Survey</a:t>
            </a:r>
            <a:endParaRPr b="1"/>
          </a:p>
        </p:txBody>
      </p:sp>
      <p:graphicFrame>
        <p:nvGraphicFramePr>
          <p:cNvPr id="78" name="Google Shape;78;p16"/>
          <p:cNvGraphicFramePr/>
          <p:nvPr/>
        </p:nvGraphicFramePr>
        <p:xfrm>
          <a:off x="952500" y="2000250"/>
          <a:ext cx="3000000" cy="3000000"/>
        </p:xfrm>
        <a:graphic>
          <a:graphicData uri="http://schemas.openxmlformats.org/drawingml/2006/table">
            <a:tbl>
              <a:tblPr>
                <a:noFill/>
                <a:tableStyleId>{0C912298-9140-4E2E-9BE6-FB8BE352CC43}</a:tableStyleId>
              </a:tblPr>
              <a:tblGrid>
                <a:gridCol w="1809750"/>
                <a:gridCol w="1809750"/>
                <a:gridCol w="1809750"/>
                <a:gridCol w="1809750"/>
              </a:tblGrid>
              <a:tr h="381000">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Paper</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Methodology </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Outcome</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Drawbacks</a:t>
                      </a:r>
                      <a:endParaRPr>
                        <a:latin typeface="Old Standard TT"/>
                        <a:ea typeface="Old Standard TT"/>
                        <a:cs typeface="Old Standard TT"/>
                        <a:sym typeface="Old Standard TT"/>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latin typeface="Old Standard TT"/>
                          <a:ea typeface="Old Standard TT"/>
                          <a:cs typeface="Old Standard TT"/>
                          <a:sym typeface="Old Standard TT"/>
                        </a:rPr>
                        <a:t>LAWBOT: A Smart User Indian Legal Chatbot</a:t>
                      </a:r>
                      <a:endParaRPr>
                        <a:latin typeface="Old Standard TT"/>
                        <a:ea typeface="Old Standard TT"/>
                        <a:cs typeface="Old Standard TT"/>
                        <a:sym typeface="Old Standard TT"/>
                      </a:endParaRPr>
                    </a:p>
                    <a:p>
                      <a:pPr indent="0" lvl="0" marL="0" rtl="0" algn="l">
                        <a:spcBef>
                          <a:spcPts val="0"/>
                        </a:spcBef>
                        <a:spcAft>
                          <a:spcPts val="0"/>
                        </a:spcAft>
                        <a:buNone/>
                      </a:pPr>
                      <a:r>
                        <a:rPr lang="en">
                          <a:latin typeface="Old Standard TT"/>
                          <a:ea typeface="Old Standard TT"/>
                          <a:cs typeface="Old Standard TT"/>
                          <a:sym typeface="Old Standard TT"/>
                        </a:rPr>
                        <a:t>using Machine Learning Framework</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RASA framework</a:t>
                      </a:r>
                      <a:endParaRPr>
                        <a:latin typeface="Old Standard TT"/>
                        <a:ea typeface="Old Standard TT"/>
                        <a:cs typeface="Old Standard TT"/>
                        <a:sym typeface="Old Standard TT"/>
                      </a:endParaRPr>
                    </a:p>
                    <a:p>
                      <a:pPr indent="0" lvl="0" marL="0" rtl="0" algn="l">
                        <a:spcBef>
                          <a:spcPts val="0"/>
                        </a:spcBef>
                        <a:spcAft>
                          <a:spcPts val="0"/>
                        </a:spcAft>
                        <a:buNone/>
                      </a:pPr>
                      <a:r>
                        <a:rPr lang="en">
                          <a:latin typeface="Old Standard TT"/>
                          <a:ea typeface="Old Standard TT"/>
                          <a:cs typeface="Old Standard TT"/>
                          <a:sym typeface="Old Standard TT"/>
                        </a:rPr>
                        <a:t>Botpress for overview of chatbot,</a:t>
                      </a:r>
                      <a:endParaRPr>
                        <a:latin typeface="Old Standard TT"/>
                        <a:ea typeface="Old Standard TT"/>
                        <a:cs typeface="Old Standard TT"/>
                        <a:sym typeface="Old Standard TT"/>
                      </a:endParaRPr>
                    </a:p>
                    <a:p>
                      <a:pPr indent="0" lvl="0" marL="0" rtl="0" algn="l">
                        <a:spcBef>
                          <a:spcPts val="0"/>
                        </a:spcBef>
                        <a:spcAft>
                          <a:spcPts val="0"/>
                        </a:spcAft>
                        <a:buNone/>
                      </a:pPr>
                      <a:r>
                        <a:rPr lang="en">
                          <a:latin typeface="Old Standard TT"/>
                          <a:ea typeface="Old Standard TT"/>
                          <a:cs typeface="Old Standard TT"/>
                          <a:sym typeface="Old Standard TT"/>
                        </a:rPr>
                        <a:t>Longformer for cosine similarity</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A chatbot that provides information about previously closed cases.</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Provides only information with respect to only previous cases.</a:t>
                      </a:r>
                      <a:endParaRPr>
                        <a:latin typeface="Old Standard TT"/>
                        <a:ea typeface="Old Standard TT"/>
                        <a:cs typeface="Old Standard TT"/>
                        <a:sym typeface="Old Standard TT"/>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25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b="1" lang="en"/>
              <a:t>Literature Survey</a:t>
            </a:r>
            <a:endParaRPr b="1"/>
          </a:p>
        </p:txBody>
      </p:sp>
      <p:graphicFrame>
        <p:nvGraphicFramePr>
          <p:cNvPr id="84" name="Google Shape;84;p17"/>
          <p:cNvGraphicFramePr/>
          <p:nvPr/>
        </p:nvGraphicFramePr>
        <p:xfrm>
          <a:off x="952500" y="1448400"/>
          <a:ext cx="3000000" cy="3000000"/>
        </p:xfrm>
        <a:graphic>
          <a:graphicData uri="http://schemas.openxmlformats.org/drawingml/2006/table">
            <a:tbl>
              <a:tblPr>
                <a:noFill/>
                <a:tableStyleId>{0C912298-9140-4E2E-9BE6-FB8BE352CC43}</a:tableStyleId>
              </a:tblPr>
              <a:tblGrid>
                <a:gridCol w="1809750"/>
                <a:gridCol w="1809750"/>
                <a:gridCol w="1809750"/>
                <a:gridCol w="1809750"/>
              </a:tblGrid>
              <a:tr h="381000">
                <a:tc>
                  <a:txBody>
                    <a:bodyPr/>
                    <a:lstStyle/>
                    <a:p>
                      <a:pPr indent="0" lvl="0" marL="0" rtl="0" algn="ctr">
                        <a:lnSpc>
                          <a:spcPct val="123913"/>
                        </a:lnSpc>
                        <a:spcBef>
                          <a:spcPts val="0"/>
                        </a:spcBef>
                        <a:spcAft>
                          <a:spcPts val="0"/>
                        </a:spcAft>
                        <a:buNone/>
                      </a:pPr>
                      <a:r>
                        <a:rPr lang="en">
                          <a:solidFill>
                            <a:srgbClr val="333333"/>
                          </a:solidFill>
                          <a:latin typeface="Old Standard TT"/>
                          <a:ea typeface="Old Standard TT"/>
                          <a:cs typeface="Old Standard TT"/>
                          <a:sym typeface="Old Standard TT"/>
                        </a:rPr>
                        <a:t>Paper</a:t>
                      </a:r>
                      <a:endParaRPr>
                        <a:solidFill>
                          <a:srgbClr val="333333"/>
                        </a:solidFill>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Methodology </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Outcomes </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Drawbacks</a:t>
                      </a:r>
                      <a:endParaRPr>
                        <a:latin typeface="Old Standard TT"/>
                        <a:ea typeface="Old Standard TT"/>
                        <a:cs typeface="Old Standard TT"/>
                        <a:sym typeface="Old Standard TT"/>
                      </a:endParaRPr>
                    </a:p>
                  </a:txBody>
                  <a:tcPr marT="91425" marB="91425" marR="91425" marL="91425"/>
                </a:tc>
              </a:tr>
              <a:tr h="381000">
                <a:tc>
                  <a:txBody>
                    <a:bodyPr/>
                    <a:lstStyle/>
                    <a:p>
                      <a:pPr indent="0" lvl="0" marL="0" rtl="0" algn="l">
                        <a:lnSpc>
                          <a:spcPct val="123913"/>
                        </a:lnSpc>
                        <a:spcBef>
                          <a:spcPts val="0"/>
                        </a:spcBef>
                        <a:spcAft>
                          <a:spcPts val="0"/>
                        </a:spcAft>
                        <a:buClr>
                          <a:schemeClr val="dk1"/>
                        </a:buClr>
                        <a:buSzPts val="1100"/>
                        <a:buFont typeface="Arial"/>
                        <a:buNone/>
                      </a:pPr>
                      <a:r>
                        <a:rPr lang="en">
                          <a:solidFill>
                            <a:srgbClr val="333333"/>
                          </a:solidFill>
                          <a:latin typeface="Old Standard TT"/>
                          <a:ea typeface="Old Standard TT"/>
                          <a:cs typeface="Old Standard TT"/>
                          <a:sym typeface="Old Standard TT"/>
                        </a:rPr>
                        <a:t>RAG-Based LLM Chatbot Using Llama-2</a:t>
                      </a:r>
                      <a:endParaRPr>
                        <a:solidFill>
                          <a:srgbClr val="333333"/>
                        </a:solidFill>
                        <a:latin typeface="Old Standard TT"/>
                        <a:ea typeface="Old Standard TT"/>
                        <a:cs typeface="Old Standard TT"/>
                        <a:sym typeface="Old Standard TT"/>
                      </a:endParaRPr>
                    </a:p>
                    <a:p>
                      <a:pPr indent="0" lvl="0" marL="0" rtl="0" algn="l">
                        <a:spcBef>
                          <a:spcPts val="0"/>
                        </a:spcBef>
                        <a:spcAft>
                          <a:spcPts val="0"/>
                        </a:spcAft>
                        <a:buNone/>
                      </a:pPr>
                      <a:r>
                        <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Lama-2-7b model(pre-trained),</a:t>
                      </a:r>
                      <a:endParaRPr>
                        <a:latin typeface="Old Standard TT"/>
                        <a:ea typeface="Old Standard TT"/>
                        <a:cs typeface="Old Standard TT"/>
                        <a:sym typeface="Old Standard TT"/>
                      </a:endParaRPr>
                    </a:p>
                    <a:p>
                      <a:pPr indent="0" lvl="0" marL="0" rtl="0" algn="l">
                        <a:spcBef>
                          <a:spcPts val="0"/>
                        </a:spcBef>
                        <a:spcAft>
                          <a:spcPts val="0"/>
                        </a:spcAft>
                        <a:buNone/>
                      </a:pPr>
                      <a:r>
                        <a:rPr lang="en">
                          <a:latin typeface="Old Standard TT"/>
                          <a:ea typeface="Old Standard TT"/>
                          <a:cs typeface="Old Standard TT"/>
                          <a:sym typeface="Old Standard TT"/>
                        </a:rPr>
                        <a:t>BERT for embeddings,Chromoa DB,Langchain retriever.</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A chatbot that provides advice on legal actions that can be taken for a mentioned action.</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Focuses only on domestic violence.</a:t>
                      </a:r>
                      <a:endParaRPr>
                        <a:latin typeface="Old Standard TT"/>
                        <a:ea typeface="Old Standard TT"/>
                        <a:cs typeface="Old Standard TT"/>
                        <a:sym typeface="Old Standard TT"/>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Literature Survey</a:t>
            </a:r>
            <a:endParaRPr b="1"/>
          </a:p>
        </p:txBody>
      </p:sp>
      <p:graphicFrame>
        <p:nvGraphicFramePr>
          <p:cNvPr id="90" name="Google Shape;90;p18"/>
          <p:cNvGraphicFramePr/>
          <p:nvPr/>
        </p:nvGraphicFramePr>
        <p:xfrm>
          <a:off x="952500" y="1122950"/>
          <a:ext cx="3000000" cy="3000000"/>
        </p:xfrm>
        <a:graphic>
          <a:graphicData uri="http://schemas.openxmlformats.org/drawingml/2006/table">
            <a:tbl>
              <a:tblPr>
                <a:noFill/>
                <a:tableStyleId>{0C912298-9140-4E2E-9BE6-FB8BE352CC43}</a:tableStyleId>
              </a:tblPr>
              <a:tblGrid>
                <a:gridCol w="1809750"/>
                <a:gridCol w="1809750"/>
                <a:gridCol w="1809750"/>
                <a:gridCol w="1809750"/>
              </a:tblGrid>
              <a:tr h="363200">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Paper</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Methodology </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Outcome</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Drawbacks</a:t>
                      </a:r>
                      <a:endParaRPr>
                        <a:latin typeface="Old Standard TT"/>
                        <a:ea typeface="Old Standard TT"/>
                        <a:cs typeface="Old Standard TT"/>
                        <a:sym typeface="Old Standard TT"/>
                      </a:endParaRPr>
                    </a:p>
                  </a:txBody>
                  <a:tcPr marT="91425" marB="91425" marR="91425" marL="91425"/>
                </a:tc>
              </a:tr>
              <a:tr h="2787175">
                <a:tc>
                  <a:txBody>
                    <a:bodyPr/>
                    <a:lstStyle/>
                    <a:p>
                      <a:pPr indent="0" lvl="0" marL="0" rtl="0" algn="l">
                        <a:spcBef>
                          <a:spcPts val="0"/>
                        </a:spcBef>
                        <a:spcAft>
                          <a:spcPts val="0"/>
                        </a:spcAft>
                        <a:buNone/>
                      </a:pPr>
                      <a:r>
                        <a:rPr lang="en">
                          <a:latin typeface="Old Standard TT"/>
                          <a:ea typeface="Old Standard TT"/>
                          <a:cs typeface="Old Standard TT"/>
                          <a:sym typeface="Old Standard TT"/>
                        </a:rPr>
                        <a:t>Generative vs Intent-based Chatbot for Judicial Advice</a:t>
                      </a:r>
                      <a:endParaRPr>
                        <a:latin typeface="Old Standard TT"/>
                        <a:ea typeface="Old Standard TT"/>
                        <a:cs typeface="Old Standard TT"/>
                        <a:sym typeface="Old Standard TT"/>
                      </a:endParaRPr>
                    </a:p>
                    <a:p>
                      <a:pPr indent="0" lvl="0" marL="0" rtl="0" algn="l">
                        <a:spcBef>
                          <a:spcPts val="0"/>
                        </a:spcBef>
                        <a:spcAft>
                          <a:spcPts val="0"/>
                        </a:spcAft>
                        <a:buNone/>
                      </a:pPr>
                      <a:r>
                        <a:t/>
                      </a:r>
                      <a:endParaRPr>
                        <a:latin typeface="Old Standard TT"/>
                        <a:ea typeface="Old Standard TT"/>
                        <a:cs typeface="Old Standard TT"/>
                        <a:sym typeface="Old Standard TT"/>
                      </a:endParaRPr>
                    </a:p>
                    <a:p>
                      <a:pPr indent="0" lvl="0" marL="0" rtl="0" algn="l">
                        <a:spcBef>
                          <a:spcPts val="0"/>
                        </a:spcBef>
                        <a:spcAft>
                          <a:spcPts val="0"/>
                        </a:spcAft>
                        <a:buNone/>
                      </a:pPr>
                      <a:r>
                        <a:rPr lang="en">
                          <a:latin typeface="Old Standard TT"/>
                          <a:ea typeface="Old Standard TT"/>
                          <a:cs typeface="Old Standard TT"/>
                          <a:sym typeface="Old Standard TT"/>
                        </a:rPr>
                        <a:t>2024 IEEE 9th International Conference for Convergence in Technology (I2CT) </a:t>
                      </a:r>
                      <a:endParaRPr>
                        <a:latin typeface="Old Standard TT"/>
                        <a:ea typeface="Old Standard TT"/>
                        <a:cs typeface="Old Standard TT"/>
                        <a:sym typeface="Old Standard TT"/>
                      </a:endParaRPr>
                    </a:p>
                  </a:txBody>
                  <a:tcPr marT="91425" marB="91425" marR="91425" marL="91425"/>
                </a:tc>
                <a:tc>
                  <a:txBody>
                    <a:bodyPr/>
                    <a:lstStyle/>
                    <a:p>
                      <a:pPr indent="0" lvl="0" marL="0" rtl="0" algn="l">
                        <a:lnSpc>
                          <a:spcPct val="130000"/>
                        </a:lnSpc>
                        <a:spcBef>
                          <a:spcPts val="0"/>
                        </a:spcBef>
                        <a:spcAft>
                          <a:spcPts val="0"/>
                        </a:spcAft>
                        <a:buNone/>
                      </a:pPr>
                      <a:r>
                        <a:rPr lang="en">
                          <a:solidFill>
                            <a:srgbClr val="333333"/>
                          </a:solidFill>
                          <a:latin typeface="Old Standard TT"/>
                          <a:ea typeface="Old Standard TT"/>
                          <a:cs typeface="Old Standard TT"/>
                          <a:sym typeface="Old Standard TT"/>
                        </a:rPr>
                        <a:t>Generative Chatbot using OpenAI API</a:t>
                      </a:r>
                      <a:endParaRPr>
                        <a:solidFill>
                          <a:srgbClr val="333333"/>
                        </a:solidFill>
                        <a:latin typeface="Old Standard TT"/>
                        <a:ea typeface="Old Standard TT"/>
                        <a:cs typeface="Old Standard TT"/>
                        <a:sym typeface="Old Standard TT"/>
                      </a:endParaRPr>
                    </a:p>
                    <a:p>
                      <a:pPr indent="0" lvl="0" marL="0" rtl="0" algn="l">
                        <a:lnSpc>
                          <a:spcPct val="130000"/>
                        </a:lnSpc>
                        <a:spcBef>
                          <a:spcPts val="700"/>
                        </a:spcBef>
                        <a:spcAft>
                          <a:spcPts val="0"/>
                        </a:spcAft>
                        <a:buNone/>
                      </a:pPr>
                      <a:r>
                        <a:rPr lang="en">
                          <a:solidFill>
                            <a:srgbClr val="333333"/>
                          </a:solidFill>
                          <a:latin typeface="Old Standard TT"/>
                          <a:ea typeface="Old Standard TT"/>
                          <a:cs typeface="Old Standard TT"/>
                          <a:sym typeface="Old Standard TT"/>
                        </a:rPr>
                        <a:t>Intent-based Chatbot using Google’s Dialogflow</a:t>
                      </a:r>
                      <a:endParaRPr>
                        <a:solidFill>
                          <a:srgbClr val="333333"/>
                        </a:solidFill>
                        <a:latin typeface="Old Standard TT"/>
                        <a:ea typeface="Old Standard TT"/>
                        <a:cs typeface="Old Standard TT"/>
                        <a:sym typeface="Old Standard TT"/>
                      </a:endParaRPr>
                    </a:p>
                    <a:p>
                      <a:pPr indent="0" lvl="0" marL="0" rtl="0" algn="l">
                        <a:lnSpc>
                          <a:spcPct val="130000"/>
                        </a:lnSpc>
                        <a:spcBef>
                          <a:spcPts val="700"/>
                        </a:spcBef>
                        <a:spcAft>
                          <a:spcPts val="0"/>
                        </a:spcAft>
                        <a:buClr>
                          <a:schemeClr val="dk1"/>
                        </a:buClr>
                        <a:buSzPts val="1100"/>
                        <a:buFont typeface="Arial"/>
                        <a:buNone/>
                      </a:pPr>
                      <a:r>
                        <a:t/>
                      </a:r>
                      <a:endParaRPr>
                        <a:solidFill>
                          <a:srgbClr val="333333"/>
                        </a:solidFill>
                        <a:latin typeface="Old Standard TT"/>
                        <a:ea typeface="Old Standard TT"/>
                        <a:cs typeface="Old Standard TT"/>
                        <a:sym typeface="Old Standard TT"/>
                      </a:endParaRPr>
                    </a:p>
                    <a:p>
                      <a:pPr indent="0" lvl="0" marL="0" rtl="0" algn="l">
                        <a:spcBef>
                          <a:spcPts val="700"/>
                        </a:spcBef>
                        <a:spcAft>
                          <a:spcPts val="0"/>
                        </a:spcAft>
                        <a:buNone/>
                      </a:pPr>
                      <a:r>
                        <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Accuracy:</a:t>
                      </a:r>
                      <a:endParaRPr>
                        <a:latin typeface="Old Standard TT"/>
                        <a:ea typeface="Old Standard TT"/>
                        <a:cs typeface="Old Standard TT"/>
                        <a:sym typeface="Old Standard TT"/>
                      </a:endParaRPr>
                    </a:p>
                    <a:p>
                      <a:pPr indent="0" lvl="0" marL="0" rtl="0" algn="l">
                        <a:spcBef>
                          <a:spcPts val="0"/>
                        </a:spcBef>
                        <a:spcAft>
                          <a:spcPts val="0"/>
                        </a:spcAft>
                        <a:buNone/>
                      </a:pPr>
                      <a:r>
                        <a:rPr lang="en">
                          <a:latin typeface="Old Standard TT"/>
                          <a:ea typeface="Old Standard TT"/>
                          <a:cs typeface="Old Standard TT"/>
                          <a:sym typeface="Old Standard TT"/>
                        </a:rPr>
                        <a:t>Generative: 96%</a:t>
                      </a:r>
                      <a:endParaRPr>
                        <a:latin typeface="Old Standard TT"/>
                        <a:ea typeface="Old Standard TT"/>
                        <a:cs typeface="Old Standard TT"/>
                        <a:sym typeface="Old Standard TT"/>
                      </a:endParaRPr>
                    </a:p>
                    <a:p>
                      <a:pPr indent="0" lvl="0" marL="0" rtl="0" algn="l">
                        <a:spcBef>
                          <a:spcPts val="0"/>
                        </a:spcBef>
                        <a:spcAft>
                          <a:spcPts val="0"/>
                        </a:spcAft>
                        <a:buNone/>
                      </a:pPr>
                      <a:r>
                        <a:rPr lang="en">
                          <a:latin typeface="Old Standard TT"/>
                          <a:ea typeface="Old Standard TT"/>
                          <a:cs typeface="Old Standard TT"/>
                          <a:sym typeface="Old Standard TT"/>
                        </a:rPr>
                        <a:t>Intent-based: 80%</a:t>
                      </a:r>
                      <a:endParaRPr>
                        <a:latin typeface="Old Standard TT"/>
                        <a:ea typeface="Old Standard TT"/>
                        <a:cs typeface="Old Standard TT"/>
                        <a:sym typeface="Old Standard TT"/>
                      </a:endParaRPr>
                    </a:p>
                    <a:p>
                      <a:pPr indent="0" lvl="0" marL="0" rtl="0" algn="l">
                        <a:spcBef>
                          <a:spcPts val="0"/>
                        </a:spcBef>
                        <a:spcAft>
                          <a:spcPts val="0"/>
                        </a:spcAft>
                        <a:buNone/>
                      </a:pPr>
                      <a:r>
                        <a:t/>
                      </a:r>
                      <a:endParaRPr>
                        <a:latin typeface="Old Standard TT"/>
                        <a:ea typeface="Old Standard TT"/>
                        <a:cs typeface="Old Standard TT"/>
                        <a:sym typeface="Old Standard TT"/>
                      </a:endParaRPr>
                    </a:p>
                    <a:p>
                      <a:pPr indent="0" lvl="0" marL="0" rtl="0" algn="l">
                        <a:spcBef>
                          <a:spcPts val="0"/>
                        </a:spcBef>
                        <a:spcAft>
                          <a:spcPts val="0"/>
                        </a:spcAft>
                        <a:buNone/>
                      </a:pPr>
                      <a:r>
                        <a:rPr lang="en">
                          <a:latin typeface="Old Standard TT"/>
                          <a:ea typeface="Old Standard TT"/>
                          <a:cs typeface="Old Standard TT"/>
                          <a:sym typeface="Old Standard TT"/>
                        </a:rPr>
                        <a:t>Precision:</a:t>
                      </a:r>
                      <a:endParaRPr>
                        <a:latin typeface="Old Standard TT"/>
                        <a:ea typeface="Old Standard TT"/>
                        <a:cs typeface="Old Standard TT"/>
                        <a:sym typeface="Old Standard TT"/>
                      </a:endParaRPr>
                    </a:p>
                    <a:p>
                      <a:pPr indent="0" lvl="0" marL="0" rtl="0" algn="l">
                        <a:spcBef>
                          <a:spcPts val="0"/>
                        </a:spcBef>
                        <a:spcAft>
                          <a:spcPts val="0"/>
                        </a:spcAft>
                        <a:buClr>
                          <a:schemeClr val="dk1"/>
                        </a:buClr>
                        <a:buSzPts val="1100"/>
                        <a:buFont typeface="Arial"/>
                        <a:buNone/>
                      </a:pPr>
                      <a:r>
                        <a:rPr lang="en">
                          <a:solidFill>
                            <a:schemeClr val="dk1"/>
                          </a:solidFill>
                          <a:latin typeface="Old Standard TT"/>
                          <a:ea typeface="Old Standard TT"/>
                          <a:cs typeface="Old Standard TT"/>
                          <a:sym typeface="Old Standard TT"/>
                        </a:rPr>
                        <a:t>Generative: 96.67%</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Intent-based: 90.47%</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solidFill>
                            <a:srgbClr val="333333"/>
                          </a:solidFill>
                          <a:latin typeface="Old Standard TT"/>
                          <a:ea typeface="Old Standard TT"/>
                          <a:cs typeface="Old Standard TT"/>
                          <a:sym typeface="Old Standard TT"/>
                        </a:rPr>
                        <a:t>Generative AI</a:t>
                      </a:r>
                      <a:endParaRPr>
                        <a:solidFill>
                          <a:srgbClr val="333333"/>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rgbClr val="333333"/>
                          </a:solidFill>
                          <a:latin typeface="Old Standard TT"/>
                          <a:ea typeface="Old Standard TT"/>
                          <a:cs typeface="Old Standard TT"/>
                          <a:sym typeface="Old Standard TT"/>
                        </a:rPr>
                        <a:t>faced challenges in maintaining consistency and precision in responses</a:t>
                      </a:r>
                      <a:endParaRPr>
                        <a:solidFill>
                          <a:srgbClr val="333333"/>
                        </a:solidFill>
                        <a:latin typeface="Old Standard TT"/>
                        <a:ea typeface="Old Standard TT"/>
                        <a:cs typeface="Old Standard TT"/>
                        <a:sym typeface="Old Standard TT"/>
                      </a:endParaRPr>
                    </a:p>
                    <a:p>
                      <a:pPr indent="0" lvl="0" marL="0" rtl="0" algn="l">
                        <a:spcBef>
                          <a:spcPts val="0"/>
                        </a:spcBef>
                        <a:spcAft>
                          <a:spcPts val="0"/>
                        </a:spcAft>
                        <a:buClr>
                          <a:schemeClr val="dk1"/>
                        </a:buClr>
                        <a:buSzPts val="1100"/>
                        <a:buFont typeface="Arial"/>
                        <a:buNone/>
                      </a:pPr>
                      <a:r>
                        <a:rPr lang="en">
                          <a:solidFill>
                            <a:srgbClr val="333333"/>
                          </a:solidFill>
                          <a:latin typeface="Old Standard TT"/>
                          <a:ea typeface="Old Standard TT"/>
                          <a:cs typeface="Old Standard TT"/>
                          <a:sym typeface="Old Standard TT"/>
                        </a:rPr>
                        <a:t>Intent-based AI demonstrated limited scope posed limitations when confronted with user queries beyond the established intents</a:t>
                      </a:r>
                      <a:endParaRPr>
                        <a:solidFill>
                          <a:srgbClr val="333333"/>
                        </a:solidFill>
                        <a:latin typeface="Old Standard TT"/>
                        <a:ea typeface="Old Standard TT"/>
                        <a:cs typeface="Old Standard TT"/>
                        <a:sym typeface="Old Standard TT"/>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Literature Survey</a:t>
            </a:r>
            <a:endParaRPr b="1"/>
          </a:p>
        </p:txBody>
      </p:sp>
      <p:graphicFrame>
        <p:nvGraphicFramePr>
          <p:cNvPr id="96" name="Google Shape;96;p19"/>
          <p:cNvGraphicFramePr/>
          <p:nvPr/>
        </p:nvGraphicFramePr>
        <p:xfrm>
          <a:off x="952500" y="1385150"/>
          <a:ext cx="3000000" cy="3000000"/>
        </p:xfrm>
        <a:graphic>
          <a:graphicData uri="http://schemas.openxmlformats.org/drawingml/2006/table">
            <a:tbl>
              <a:tblPr>
                <a:noFill/>
                <a:tableStyleId>{0C912298-9140-4E2E-9BE6-FB8BE352CC43}</a:tableStyleId>
              </a:tblPr>
              <a:tblGrid>
                <a:gridCol w="1809750"/>
                <a:gridCol w="1809750"/>
                <a:gridCol w="1809750"/>
                <a:gridCol w="1809750"/>
              </a:tblGrid>
              <a:tr h="381000">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Paper</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Methodology </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Outcome</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Drawbacks</a:t>
                      </a:r>
                      <a:endParaRPr>
                        <a:latin typeface="Old Standard TT"/>
                        <a:ea typeface="Old Standard TT"/>
                        <a:cs typeface="Old Standard TT"/>
                        <a:sym typeface="Old Standard TT"/>
                      </a:endParaRPr>
                    </a:p>
                  </a:txBody>
                  <a:tcPr marT="91425" marB="91425" marR="91425" marL="91425"/>
                </a:tc>
              </a:tr>
              <a:tr h="381000">
                <a:tc>
                  <a:txBody>
                    <a:bodyPr/>
                    <a:lstStyle/>
                    <a:p>
                      <a:pPr indent="0" lvl="0" marL="0" rtl="0" algn="l">
                        <a:lnSpc>
                          <a:spcPct val="123913"/>
                        </a:lnSpc>
                        <a:spcBef>
                          <a:spcPts val="0"/>
                        </a:spcBef>
                        <a:spcAft>
                          <a:spcPts val="0"/>
                        </a:spcAft>
                        <a:buClr>
                          <a:schemeClr val="dk1"/>
                        </a:buClr>
                        <a:buSzPts val="1100"/>
                        <a:buFont typeface="Arial"/>
                        <a:buNone/>
                      </a:pPr>
                      <a:r>
                        <a:rPr lang="en">
                          <a:solidFill>
                            <a:srgbClr val="333333"/>
                          </a:solidFill>
                          <a:latin typeface="Old Standard TT"/>
                          <a:ea typeface="Old Standard TT"/>
                          <a:cs typeface="Old Standard TT"/>
                          <a:sym typeface="Old Standard TT"/>
                        </a:rPr>
                        <a:t>Optimizing Legal Information Access: Federated Search and RAG for Secure AI-Powered Legal Solutions</a:t>
                      </a:r>
                      <a:endParaRPr>
                        <a:solidFill>
                          <a:srgbClr val="333333"/>
                        </a:solidFill>
                        <a:latin typeface="Old Standard TT"/>
                        <a:ea typeface="Old Standard TT"/>
                        <a:cs typeface="Old Standard TT"/>
                        <a:sym typeface="Old Standard TT"/>
                      </a:endParaRPr>
                    </a:p>
                    <a:p>
                      <a:pPr indent="0" lvl="0" marL="0" rtl="0" algn="l">
                        <a:spcBef>
                          <a:spcPts val="0"/>
                        </a:spcBef>
                        <a:spcAft>
                          <a:spcPts val="0"/>
                        </a:spcAft>
                        <a:buNone/>
                      </a:pPr>
                      <a:r>
                        <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Federated Learning,</a:t>
                      </a:r>
                      <a:endParaRPr>
                        <a:latin typeface="Old Standard TT"/>
                        <a:ea typeface="Old Standard TT"/>
                        <a:cs typeface="Old Standard TT"/>
                        <a:sym typeface="Old Standard TT"/>
                      </a:endParaRPr>
                    </a:p>
                    <a:p>
                      <a:pPr indent="0" lvl="0" marL="0" rtl="0" algn="l">
                        <a:spcBef>
                          <a:spcPts val="0"/>
                        </a:spcBef>
                        <a:spcAft>
                          <a:spcPts val="0"/>
                        </a:spcAft>
                        <a:buNone/>
                      </a:pPr>
                      <a:r>
                        <a:rPr lang="en">
                          <a:latin typeface="Old Standard TT"/>
                          <a:ea typeface="Old Standard TT"/>
                          <a:cs typeface="Old Standard TT"/>
                          <a:sym typeface="Old Standard TT"/>
                        </a:rPr>
                        <a:t>Federated Search, ReAct Framework</a:t>
                      </a:r>
                      <a:endParaRPr>
                        <a:latin typeface="Old Standard TT"/>
                        <a:ea typeface="Old Standard TT"/>
                        <a:cs typeface="Old Standard TT"/>
                        <a:sym typeface="Old Standard TT"/>
                      </a:endParaRPr>
                    </a:p>
                    <a:p>
                      <a:pPr indent="0" lvl="0" marL="0" rtl="0" algn="l">
                        <a:spcBef>
                          <a:spcPts val="0"/>
                        </a:spcBef>
                        <a:spcAft>
                          <a:spcPts val="0"/>
                        </a:spcAft>
                        <a:buNone/>
                      </a:pPr>
                      <a:r>
                        <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The ReAct framework can answer legal queries and educate about the legal reasoning</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Federated Learning introduces issues like </a:t>
                      </a:r>
                      <a:r>
                        <a:rPr lang="en">
                          <a:solidFill>
                            <a:schemeClr val="dk1"/>
                          </a:solidFill>
                          <a:latin typeface="Old Standard TT"/>
                          <a:ea typeface="Old Standard TT"/>
                          <a:cs typeface="Old Standard TT"/>
                          <a:sym typeface="Old Standard TT"/>
                        </a:rPr>
                        <a:t>communication costs, non-uniform data distribution, and device reliability. Legal data can often be heterogeneous.</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a:latin typeface="Old Standard TT"/>
                        <a:ea typeface="Old Standard TT"/>
                        <a:cs typeface="Old Standard TT"/>
                        <a:sym typeface="Old Standard TT"/>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25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b="1" lang="en"/>
              <a:t>Literature Survey</a:t>
            </a:r>
            <a:endParaRPr b="1"/>
          </a:p>
        </p:txBody>
      </p:sp>
      <p:graphicFrame>
        <p:nvGraphicFramePr>
          <p:cNvPr id="102" name="Google Shape;102;p20"/>
          <p:cNvGraphicFramePr/>
          <p:nvPr/>
        </p:nvGraphicFramePr>
        <p:xfrm>
          <a:off x="952500" y="1073500"/>
          <a:ext cx="3000000" cy="3000000"/>
        </p:xfrm>
        <a:graphic>
          <a:graphicData uri="http://schemas.openxmlformats.org/drawingml/2006/table">
            <a:tbl>
              <a:tblPr>
                <a:noFill/>
                <a:tableStyleId>{0C912298-9140-4E2E-9BE6-FB8BE352CC43}</a:tableStyleId>
              </a:tblPr>
              <a:tblGrid>
                <a:gridCol w="1693725"/>
                <a:gridCol w="2320225"/>
                <a:gridCol w="1585475"/>
                <a:gridCol w="1639575"/>
              </a:tblGrid>
              <a:tr h="411675">
                <a:tc>
                  <a:txBody>
                    <a:bodyPr/>
                    <a:lstStyle/>
                    <a:p>
                      <a:pPr indent="0" lvl="0" marL="0" rtl="0" algn="ctr">
                        <a:lnSpc>
                          <a:spcPct val="123913"/>
                        </a:lnSpc>
                        <a:spcBef>
                          <a:spcPts val="0"/>
                        </a:spcBef>
                        <a:spcAft>
                          <a:spcPts val="0"/>
                        </a:spcAft>
                        <a:buNone/>
                      </a:pPr>
                      <a:r>
                        <a:rPr lang="en">
                          <a:solidFill>
                            <a:srgbClr val="333333"/>
                          </a:solidFill>
                          <a:latin typeface="Old Standard TT"/>
                          <a:ea typeface="Old Standard TT"/>
                          <a:cs typeface="Old Standard TT"/>
                          <a:sym typeface="Old Standard TT"/>
                        </a:rPr>
                        <a:t>Paper</a:t>
                      </a:r>
                      <a:endParaRPr>
                        <a:solidFill>
                          <a:srgbClr val="333333"/>
                        </a:solidFill>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Methodology </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Outcomes </a:t>
                      </a:r>
                      <a:endParaRPr>
                        <a:latin typeface="Old Standard TT"/>
                        <a:ea typeface="Old Standard TT"/>
                        <a:cs typeface="Old Standard TT"/>
                        <a:sym typeface="Old Standard TT"/>
                      </a:endParaRPr>
                    </a:p>
                  </a:txBody>
                  <a:tcPr marT="91425" marB="91425" marR="91425" marL="91425"/>
                </a:tc>
                <a:tc>
                  <a:txBody>
                    <a:bodyPr/>
                    <a:lstStyle/>
                    <a:p>
                      <a:pPr indent="0" lvl="0" marL="0" rtl="0" algn="ctr">
                        <a:spcBef>
                          <a:spcPts val="0"/>
                        </a:spcBef>
                        <a:spcAft>
                          <a:spcPts val="0"/>
                        </a:spcAft>
                        <a:buNone/>
                      </a:pPr>
                      <a:r>
                        <a:rPr lang="en">
                          <a:latin typeface="Old Standard TT"/>
                          <a:ea typeface="Old Standard TT"/>
                          <a:cs typeface="Old Standard TT"/>
                          <a:sym typeface="Old Standard TT"/>
                        </a:rPr>
                        <a:t>Drawbacks</a:t>
                      </a:r>
                      <a:endParaRPr>
                        <a:latin typeface="Old Standard TT"/>
                        <a:ea typeface="Old Standard TT"/>
                        <a:cs typeface="Old Standard TT"/>
                        <a:sym typeface="Old Standard TT"/>
                      </a:endParaRPr>
                    </a:p>
                  </a:txBody>
                  <a:tcPr marT="91425" marB="91425" marR="91425" marL="91425"/>
                </a:tc>
              </a:tr>
              <a:tr h="381000">
                <a:tc>
                  <a:txBody>
                    <a:bodyPr/>
                    <a:lstStyle/>
                    <a:p>
                      <a:pPr indent="0" lvl="0" marL="0" rtl="0" algn="l">
                        <a:spcBef>
                          <a:spcPts val="0"/>
                        </a:spcBef>
                        <a:spcAft>
                          <a:spcPts val="0"/>
                        </a:spcAft>
                        <a:buNone/>
                      </a:pPr>
                      <a:r>
                        <a:rPr lang="en">
                          <a:latin typeface="Old Standard TT"/>
                          <a:ea typeface="Old Standard TT"/>
                          <a:cs typeface="Old Standard TT"/>
                          <a:sym typeface="Old Standard TT"/>
                        </a:rPr>
                        <a:t>Legal Assistance Redefined: Transforming Legal Access with AI-Powered LegalLink</a:t>
                      </a:r>
                      <a:endParaRPr>
                        <a:latin typeface="Old Standard TT"/>
                        <a:ea typeface="Old Standard TT"/>
                        <a:cs typeface="Old Standard TT"/>
                        <a:sym typeface="Old Standard TT"/>
                      </a:endParaRPr>
                    </a:p>
                    <a:p>
                      <a:pPr indent="0" lvl="0" marL="0" rtl="0" algn="l">
                        <a:spcBef>
                          <a:spcPts val="0"/>
                        </a:spcBef>
                        <a:spcAft>
                          <a:spcPts val="0"/>
                        </a:spcAft>
                        <a:buNone/>
                      </a:pPr>
                      <a:r>
                        <a:rPr lang="en" u="sng">
                          <a:solidFill>
                            <a:srgbClr val="006699"/>
                          </a:solidFill>
                          <a:latin typeface="Old Standard TT"/>
                          <a:ea typeface="Old Standard TT"/>
                          <a:cs typeface="Old Standard TT"/>
                          <a:sym typeface="Old Standard TT"/>
                          <a:hlinkClick r:id="rId3">
                            <a:extLst>
                              <a:ext uri="{A12FA001-AC4F-418D-AE19-62706E023703}">
                                <ahyp:hlinkClr val="tx"/>
                              </a:ext>
                            </a:extLst>
                          </a:hlinkClick>
                        </a:rPr>
                        <a:t>2024 IEEE International Conference on Signal Processing, Informatics, Communication and Energy Systems (SPICES)</a:t>
                      </a:r>
                      <a:endParaRPr>
                        <a:latin typeface="Old Standard TT"/>
                        <a:ea typeface="Old Standard TT"/>
                        <a:cs typeface="Old Standard TT"/>
                        <a:sym typeface="Old Standard TT"/>
                      </a:endParaRPr>
                    </a:p>
                  </a:txBody>
                  <a:tcPr marT="91425" marB="91425" marR="91425" marL="91425"/>
                </a:tc>
                <a:tc>
                  <a:txBody>
                    <a:bodyPr/>
                    <a:lstStyle/>
                    <a:p>
                      <a:pPr indent="0" lvl="0" marL="0" rtl="0" algn="l">
                        <a:lnSpc>
                          <a:spcPct val="130000"/>
                        </a:lnSpc>
                        <a:spcBef>
                          <a:spcPts val="0"/>
                        </a:spcBef>
                        <a:spcAft>
                          <a:spcPts val="0"/>
                        </a:spcAft>
                        <a:buNone/>
                      </a:pPr>
                      <a:r>
                        <a:rPr lang="en">
                          <a:solidFill>
                            <a:srgbClr val="333333"/>
                          </a:solidFill>
                          <a:latin typeface="Old Standard TT"/>
                          <a:ea typeface="Old Standard TT"/>
                          <a:cs typeface="Old Standard TT"/>
                          <a:sym typeface="Old Standard TT"/>
                        </a:rPr>
                        <a:t>Machine Learning Model:</a:t>
                      </a:r>
                      <a:endParaRPr>
                        <a:solidFill>
                          <a:srgbClr val="333333"/>
                        </a:solidFill>
                        <a:latin typeface="Old Standard TT"/>
                        <a:ea typeface="Old Standard TT"/>
                        <a:cs typeface="Old Standard TT"/>
                        <a:sym typeface="Old Standard TT"/>
                      </a:endParaRPr>
                    </a:p>
                    <a:p>
                      <a:pPr indent="0" lvl="0" marL="0" rtl="0" algn="l">
                        <a:lnSpc>
                          <a:spcPct val="130000"/>
                        </a:lnSpc>
                        <a:spcBef>
                          <a:spcPts val="700"/>
                        </a:spcBef>
                        <a:spcAft>
                          <a:spcPts val="0"/>
                        </a:spcAft>
                        <a:buNone/>
                      </a:pPr>
                      <a:r>
                        <a:rPr lang="en">
                          <a:solidFill>
                            <a:srgbClr val="333333"/>
                          </a:solidFill>
                          <a:latin typeface="Old Standard TT"/>
                          <a:ea typeface="Old Standard TT"/>
                          <a:cs typeface="Old Standard TT"/>
                          <a:sym typeface="Old Standard TT"/>
                        </a:rPr>
                        <a:t>1)Mixtral-8x7B-Instruct-v0.1</a:t>
                      </a:r>
                      <a:endParaRPr>
                        <a:solidFill>
                          <a:srgbClr val="333333"/>
                        </a:solidFill>
                        <a:latin typeface="Old Standard TT"/>
                        <a:ea typeface="Old Standard TT"/>
                        <a:cs typeface="Old Standard TT"/>
                        <a:sym typeface="Old Standard TT"/>
                      </a:endParaRPr>
                    </a:p>
                    <a:p>
                      <a:pPr indent="0" lvl="0" marL="0" rtl="0" algn="l">
                        <a:lnSpc>
                          <a:spcPct val="130000"/>
                        </a:lnSpc>
                        <a:spcBef>
                          <a:spcPts val="700"/>
                        </a:spcBef>
                        <a:spcAft>
                          <a:spcPts val="0"/>
                        </a:spcAft>
                        <a:buNone/>
                      </a:pPr>
                      <a:r>
                        <a:rPr lang="en">
                          <a:solidFill>
                            <a:srgbClr val="333333"/>
                          </a:solidFill>
                          <a:latin typeface="Old Standard TT"/>
                          <a:ea typeface="Old Standard TT"/>
                          <a:cs typeface="Old Standard TT"/>
                          <a:sym typeface="Old Standard TT"/>
                        </a:rPr>
                        <a:t>2)nomic-embed-text-v1</a:t>
                      </a:r>
                      <a:endParaRPr>
                        <a:solidFill>
                          <a:srgbClr val="333333"/>
                        </a:solidFill>
                        <a:latin typeface="Old Standard TT"/>
                        <a:ea typeface="Old Standard TT"/>
                        <a:cs typeface="Old Standard TT"/>
                        <a:sym typeface="Old Standard TT"/>
                      </a:endParaRPr>
                    </a:p>
                    <a:p>
                      <a:pPr indent="0" lvl="0" marL="0" rtl="0" algn="l">
                        <a:lnSpc>
                          <a:spcPct val="130000"/>
                        </a:lnSpc>
                        <a:spcBef>
                          <a:spcPts val="700"/>
                        </a:spcBef>
                        <a:spcAft>
                          <a:spcPts val="700"/>
                        </a:spcAft>
                        <a:buNone/>
                      </a:pPr>
                      <a:r>
                        <a:rPr lang="en">
                          <a:solidFill>
                            <a:srgbClr val="333333"/>
                          </a:solidFill>
                          <a:latin typeface="Old Standard TT"/>
                          <a:ea typeface="Old Standard TT"/>
                          <a:cs typeface="Old Standard TT"/>
                          <a:sym typeface="Old Standard TT"/>
                        </a:rPr>
                        <a:t>3)Retrieval Engine</a:t>
                      </a:r>
                      <a:endParaRPr>
                        <a:solidFill>
                          <a:srgbClr val="333333"/>
                        </a:solidFill>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solidFill>
                            <a:srgbClr val="333333"/>
                          </a:solidFill>
                          <a:latin typeface="Old Standard TT"/>
                          <a:ea typeface="Old Standard TT"/>
                          <a:cs typeface="Old Standard TT"/>
                          <a:sym typeface="Old Standard TT"/>
                        </a:rPr>
                        <a:t>Legal Link reliably delivers accurate results across various legal domains.</a:t>
                      </a:r>
                      <a:endParaRPr>
                        <a:solidFill>
                          <a:srgbClr val="333333"/>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rgbClr val="333333"/>
                          </a:solidFill>
                          <a:latin typeface="Old Standard TT"/>
                          <a:ea typeface="Old Standard TT"/>
                          <a:cs typeface="Old Standard TT"/>
                          <a:sym typeface="Old Standard TT"/>
                        </a:rPr>
                        <a:t>Metrics collectively suggest moderate performance of the chatbot in generating responses</a:t>
                      </a:r>
                      <a:endParaRPr>
                        <a:solidFill>
                          <a:srgbClr val="333333"/>
                        </a:solidFill>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Limited to only IPC laws and is not trained on the BNS laws.</a:t>
                      </a:r>
                      <a:endParaRPr>
                        <a:latin typeface="Old Standard TT"/>
                        <a:ea typeface="Old Standard TT"/>
                        <a:cs typeface="Old Standard TT"/>
                        <a:sym typeface="Old Standard TT"/>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703"/>
              <a:buNone/>
            </a:pPr>
            <a:r>
              <a:rPr b="1" lang="en"/>
              <a:t>Dataset</a:t>
            </a:r>
            <a:endParaRPr b="1"/>
          </a:p>
        </p:txBody>
      </p:sp>
      <p:sp>
        <p:nvSpPr>
          <p:cNvPr id="108" name="Google Shape;108;p2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The dataset was obtained by web scraping the BNS chapters and sections from </a:t>
            </a:r>
            <a:r>
              <a:rPr lang="en" u="sng">
                <a:solidFill>
                  <a:schemeClr val="hlink"/>
                </a:solidFill>
                <a:hlinkClick r:id="rId3"/>
              </a:rPr>
              <a:t>Devgan.in</a:t>
            </a:r>
            <a:r>
              <a:rPr lang="en"/>
              <a:t>.</a:t>
            </a:r>
            <a:endParaRPr/>
          </a:p>
          <a:p>
            <a:pPr indent="-342900" lvl="0" marL="457200" rtl="0" algn="l">
              <a:lnSpc>
                <a:spcPct val="115000"/>
              </a:lnSpc>
              <a:spcBef>
                <a:spcPts val="0"/>
              </a:spcBef>
              <a:spcAft>
                <a:spcPts val="0"/>
              </a:spcAft>
              <a:buSzPts val="1800"/>
              <a:buChar char="●"/>
            </a:pPr>
            <a:r>
              <a:rPr lang="en"/>
              <a:t>The web scraping was done using the beautiful soup library from python.</a:t>
            </a:r>
            <a:endParaRPr/>
          </a:p>
          <a:p>
            <a:pPr indent="-342900" lvl="0" marL="457200" rtl="0" algn="l">
              <a:lnSpc>
                <a:spcPct val="115000"/>
              </a:lnSpc>
              <a:spcBef>
                <a:spcPts val="0"/>
              </a:spcBef>
              <a:spcAft>
                <a:spcPts val="0"/>
              </a:spcAft>
              <a:buSzPts val="1800"/>
              <a:buChar char="●"/>
            </a:pPr>
            <a:r>
              <a:rPr lang="en"/>
              <a:t>The web scraped data is summarized using bart-large and passed to the vector embedder all-MiniLM-L6-v2.</a:t>
            </a:r>
            <a:endParaRPr/>
          </a:p>
          <a:p>
            <a:pPr indent="-342900" lvl="0" marL="457200" rtl="0" algn="l">
              <a:lnSpc>
                <a:spcPct val="115000"/>
              </a:lnSpc>
              <a:spcBef>
                <a:spcPts val="0"/>
              </a:spcBef>
              <a:spcAft>
                <a:spcPts val="0"/>
              </a:spcAft>
              <a:buSzPts val="1800"/>
              <a:buChar char="●"/>
            </a:pPr>
            <a:r>
              <a:rPr lang="en"/>
              <a:t>The vector embeddings are then stored in ChromaDB, a vector database</a:t>
            </a:r>
            <a:endParaRPr/>
          </a:p>
          <a:p>
            <a:pPr indent="-342900" lvl="0" marL="457200" rtl="0" algn="l">
              <a:lnSpc>
                <a:spcPct val="115000"/>
              </a:lnSpc>
              <a:spcBef>
                <a:spcPts val="0"/>
              </a:spcBef>
              <a:spcAft>
                <a:spcPts val="0"/>
              </a:spcAft>
              <a:buSzPts val="1800"/>
              <a:buChar char="●"/>
            </a:pPr>
            <a:r>
              <a:rPr lang="en"/>
              <a:t>The embeddings from the vector database can be accessed via an index file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703"/>
              <a:buNone/>
            </a:pPr>
            <a:r>
              <a:rPr b="1" lang="en"/>
              <a:t>Data Storage and Pre-Processing</a:t>
            </a:r>
            <a:endParaRPr b="1"/>
          </a:p>
        </p:txBody>
      </p:sp>
      <p:sp>
        <p:nvSpPr>
          <p:cNvPr id="114" name="Google Shape;114;p22"/>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a:t>The contents in the web-scraped data are processed and stored in ChromaDB.</a:t>
            </a:r>
            <a:endParaRPr/>
          </a:p>
          <a:p>
            <a:pPr indent="-342900" lvl="0" marL="457200" rtl="0" algn="l">
              <a:lnSpc>
                <a:spcPct val="115000"/>
              </a:lnSpc>
              <a:spcBef>
                <a:spcPts val="0"/>
              </a:spcBef>
              <a:spcAft>
                <a:spcPts val="0"/>
              </a:spcAft>
              <a:buSzPts val="1800"/>
              <a:buChar char="●"/>
            </a:pPr>
            <a:r>
              <a:rPr lang="en"/>
              <a:t>BNS sections are stored in a single file, in different fields of the data.</a:t>
            </a:r>
            <a:endParaRPr/>
          </a:p>
          <a:p>
            <a:pPr indent="-342900" lvl="0" marL="457200" rtl="0" algn="l">
              <a:lnSpc>
                <a:spcPct val="115000"/>
              </a:lnSpc>
              <a:spcBef>
                <a:spcPts val="0"/>
              </a:spcBef>
              <a:spcAft>
                <a:spcPts val="0"/>
              </a:spcAft>
              <a:buSzPts val="1800"/>
              <a:buChar char="●"/>
            </a:pPr>
            <a:r>
              <a:rPr lang="en"/>
              <a:t>The DB will have the following metadata:</a:t>
            </a:r>
            <a:endParaRPr/>
          </a:p>
          <a:p>
            <a:pPr indent="-342900" lvl="1" marL="914400" rtl="0" algn="l">
              <a:lnSpc>
                <a:spcPct val="115000"/>
              </a:lnSpc>
              <a:spcBef>
                <a:spcPts val="0"/>
              </a:spcBef>
              <a:spcAft>
                <a:spcPts val="0"/>
              </a:spcAft>
              <a:buSzPts val="1800"/>
              <a:buChar char="○"/>
            </a:pPr>
            <a:r>
              <a:rPr lang="en" sz="1800"/>
              <a:t>Law_type</a:t>
            </a:r>
            <a:endParaRPr sz="1800"/>
          </a:p>
          <a:p>
            <a:pPr indent="-342900" lvl="1" marL="914400" rtl="0" algn="l">
              <a:lnSpc>
                <a:spcPct val="115000"/>
              </a:lnSpc>
              <a:spcBef>
                <a:spcPts val="0"/>
              </a:spcBef>
              <a:spcAft>
                <a:spcPts val="0"/>
              </a:spcAft>
              <a:buSzPts val="1800"/>
              <a:buChar char="○"/>
            </a:pPr>
            <a:r>
              <a:rPr lang="en" sz="1800"/>
              <a:t>Chapter number</a:t>
            </a:r>
            <a:endParaRPr sz="1800"/>
          </a:p>
          <a:p>
            <a:pPr indent="-342900" lvl="1" marL="914400" rtl="0" algn="l">
              <a:lnSpc>
                <a:spcPct val="115000"/>
              </a:lnSpc>
              <a:spcBef>
                <a:spcPts val="0"/>
              </a:spcBef>
              <a:spcAft>
                <a:spcPts val="0"/>
              </a:spcAft>
              <a:buSzPts val="1800"/>
              <a:buChar char="○"/>
            </a:pPr>
            <a:r>
              <a:rPr lang="en" sz="1800"/>
              <a:t>Chapter _title</a:t>
            </a:r>
            <a:endParaRPr sz="1800"/>
          </a:p>
          <a:p>
            <a:pPr indent="-342900" lvl="1" marL="914400" rtl="0" algn="l">
              <a:lnSpc>
                <a:spcPct val="115000"/>
              </a:lnSpc>
              <a:spcBef>
                <a:spcPts val="0"/>
              </a:spcBef>
              <a:spcAft>
                <a:spcPts val="0"/>
              </a:spcAft>
              <a:buSzPts val="1800"/>
              <a:buChar char="○"/>
            </a:pPr>
            <a:r>
              <a:rPr lang="en" sz="1800"/>
              <a:t>Section_title</a:t>
            </a:r>
            <a:endParaRPr sz="1800"/>
          </a:p>
          <a:p>
            <a:pPr indent="-342900" lvl="1" marL="914400" rtl="0" algn="l">
              <a:lnSpc>
                <a:spcPct val="115000"/>
              </a:lnSpc>
              <a:spcBef>
                <a:spcPts val="0"/>
              </a:spcBef>
              <a:spcAft>
                <a:spcPts val="0"/>
              </a:spcAft>
              <a:buSzPts val="1800"/>
              <a:buChar char="○"/>
            </a:pPr>
            <a:r>
              <a:rPr lang="en" sz="1800"/>
              <a:t>Section_content</a:t>
            </a:r>
            <a:endParaRPr sz="1800"/>
          </a:p>
          <a:p>
            <a:pPr indent="-342900" lvl="1" marL="914400" rtl="0" algn="l">
              <a:lnSpc>
                <a:spcPct val="115000"/>
              </a:lnSpc>
              <a:spcBef>
                <a:spcPts val="0"/>
              </a:spcBef>
              <a:spcAft>
                <a:spcPts val="0"/>
              </a:spcAft>
              <a:buSzPts val="1800"/>
              <a:buChar char="○"/>
            </a:pPr>
            <a:r>
              <a:rPr lang="en" sz="1800"/>
              <a:t>Section_summary</a:t>
            </a:r>
            <a:endParaRPr sz="1800"/>
          </a:p>
          <a:p>
            <a:pPr indent="-342900" lvl="1" marL="914400" rtl="0" algn="l">
              <a:lnSpc>
                <a:spcPct val="115000"/>
              </a:lnSpc>
              <a:spcBef>
                <a:spcPts val="0"/>
              </a:spcBef>
              <a:spcAft>
                <a:spcPts val="0"/>
              </a:spcAft>
              <a:buSzPts val="1800"/>
              <a:buChar char="○"/>
            </a:pPr>
            <a:r>
              <a:rPr lang="en" sz="1800"/>
              <a:t>Source URL</a:t>
            </a:r>
            <a:endParaRPr sz="18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Architecture</a:t>
            </a:r>
            <a:endParaRPr b="1"/>
          </a:p>
        </p:txBody>
      </p:sp>
      <p:pic>
        <p:nvPicPr>
          <p:cNvPr id="120" name="Google Shape;120;p23" title="GenAI Final Architecture.png"/>
          <p:cNvPicPr preferRelativeResize="0"/>
          <p:nvPr/>
        </p:nvPicPr>
        <p:blipFill rotWithShape="1">
          <a:blip r:embed="rId3">
            <a:alphaModFix/>
          </a:blip>
          <a:srcRect b="4435" l="20141" r="20550" t="4115"/>
          <a:stretch/>
        </p:blipFill>
        <p:spPr>
          <a:xfrm>
            <a:off x="2264825" y="0"/>
            <a:ext cx="5810352" cy="50394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Proposed Methodology</a:t>
            </a:r>
            <a:endParaRPr b="1"/>
          </a:p>
        </p:txBody>
      </p:sp>
      <p:sp>
        <p:nvSpPr>
          <p:cNvPr id="126" name="Google Shape;126;p24"/>
          <p:cNvSpPr txBox="1"/>
          <p:nvPr/>
        </p:nvSpPr>
        <p:spPr>
          <a:xfrm>
            <a:off x="348050" y="1060825"/>
            <a:ext cx="8226000" cy="2373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40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The data is gathered by web scraping the BNS sections from Devgan.in </a:t>
            </a:r>
            <a:endParaRPr sz="1800">
              <a:solidFill>
                <a:schemeClr val="dk1"/>
              </a:solidFill>
              <a:latin typeface="Old Standard TT"/>
              <a:ea typeface="Old Standard TT"/>
              <a:cs typeface="Old Standard TT"/>
              <a:sym typeface="Old Standard TT"/>
            </a:endParaRPr>
          </a:p>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The content, chapter number and section numbers are stored in ChromaDB.</a:t>
            </a:r>
            <a:endParaRPr sz="1800">
              <a:solidFill>
                <a:schemeClr val="dk1"/>
              </a:solidFill>
              <a:latin typeface="Old Standard TT"/>
              <a:ea typeface="Old Standard TT"/>
              <a:cs typeface="Old Standard TT"/>
              <a:sym typeface="Old Standard TT"/>
            </a:endParaRPr>
          </a:p>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The Content is summarized and stored in ChromaDB.</a:t>
            </a:r>
            <a:endParaRPr sz="1800">
              <a:solidFill>
                <a:schemeClr val="dk1"/>
              </a:solidFill>
              <a:latin typeface="Old Standard TT"/>
              <a:ea typeface="Old Standard TT"/>
              <a:cs typeface="Old Standard TT"/>
              <a:sym typeface="Old Standard TT"/>
            </a:endParaRPr>
          </a:p>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A query is taken from the user and vector embedded. A semantic similarity search is done to find the closest matches from the DB.</a:t>
            </a:r>
            <a:endParaRPr sz="1800">
              <a:solidFill>
                <a:schemeClr val="dk1"/>
              </a:solidFill>
              <a:latin typeface="Old Standard TT"/>
              <a:ea typeface="Old Standard TT"/>
              <a:cs typeface="Old Standard TT"/>
              <a:sym typeface="Old Standard TT"/>
            </a:endParaRPr>
          </a:p>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The closest matches are retrieved on the basis of top-k approach.</a:t>
            </a:r>
            <a:endParaRPr sz="1800">
              <a:solidFill>
                <a:schemeClr val="dk1"/>
              </a:solidFill>
              <a:latin typeface="Old Standard TT"/>
              <a:ea typeface="Old Standard TT"/>
              <a:cs typeface="Old Standard TT"/>
              <a:sym typeface="Old Standard TT"/>
            </a:endParaRPr>
          </a:p>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The retrieved data is used to generate a response for the user query.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13810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Architecture</a:t>
            </a:r>
            <a:endParaRPr b="1"/>
          </a:p>
        </p:txBody>
      </p:sp>
      <p:sp>
        <p:nvSpPr>
          <p:cNvPr id="132" name="Google Shape;132;p25"/>
          <p:cNvSpPr txBox="1"/>
          <p:nvPr/>
        </p:nvSpPr>
        <p:spPr>
          <a:xfrm>
            <a:off x="311700" y="658200"/>
            <a:ext cx="8226000" cy="448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
                <a:solidFill>
                  <a:schemeClr val="dk1"/>
                </a:solidFill>
                <a:latin typeface="Old Standard TT"/>
                <a:ea typeface="Old Standard TT"/>
                <a:cs typeface="Old Standard TT"/>
                <a:sym typeface="Old Standard TT"/>
              </a:rPr>
              <a:t>Workflow Overview (From User Query to Response)</a:t>
            </a:r>
            <a:endParaRPr b="1">
              <a:solidFill>
                <a:schemeClr val="dk1"/>
              </a:solidFill>
              <a:latin typeface="Old Standard TT"/>
              <a:ea typeface="Old Standard TT"/>
              <a:cs typeface="Old Standard TT"/>
              <a:sym typeface="Old Standard TT"/>
            </a:endParaRPr>
          </a:p>
          <a:p>
            <a:pPr indent="0" lvl="0" marL="0" rtl="0" algn="l">
              <a:lnSpc>
                <a:spcPct val="115000"/>
              </a:lnSpc>
              <a:spcBef>
                <a:spcPts val="1400"/>
              </a:spcBef>
              <a:spcAft>
                <a:spcPts val="0"/>
              </a:spcAft>
              <a:buNone/>
            </a:pPr>
            <a:r>
              <a:rPr b="1" lang="en">
                <a:solidFill>
                  <a:schemeClr val="dk1"/>
                </a:solidFill>
                <a:latin typeface="Old Standard TT"/>
                <a:ea typeface="Old Standard TT"/>
                <a:cs typeface="Old Standard TT"/>
                <a:sym typeface="Old Standard TT"/>
              </a:rPr>
              <a:t>1. User Input (Frontend)</a:t>
            </a:r>
            <a:endParaRPr b="1">
              <a:solidFill>
                <a:schemeClr val="dk1"/>
              </a:solidFill>
              <a:latin typeface="Old Standard TT"/>
              <a:ea typeface="Old Standard TT"/>
              <a:cs typeface="Old Standard TT"/>
              <a:sym typeface="Old Standard TT"/>
            </a:endParaRPr>
          </a:p>
          <a:p>
            <a:pPr indent="-304800" lvl="0" marL="457200" rtl="0" algn="l">
              <a:lnSpc>
                <a:spcPct val="115000"/>
              </a:lnSpc>
              <a:spcBef>
                <a:spcPts val="120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User types a legal query into the chat input on the web interface (e.g., “Tell me about section 302” or “I got hit by a car”).</a:t>
            </a:r>
            <a:endParaRPr sz="1200">
              <a:solidFill>
                <a:schemeClr val="dk1"/>
              </a:solidFill>
              <a:latin typeface="Old Standard TT"/>
              <a:ea typeface="Old Standard TT"/>
              <a:cs typeface="Old Standard TT"/>
              <a:sym typeface="Old Standard TT"/>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latin typeface="Old Standard TT"/>
                <a:ea typeface="Old Standard TT"/>
                <a:cs typeface="Old Standard TT"/>
                <a:sym typeface="Old Standard TT"/>
              </a:rPr>
              <a:t>Submits the query via POST request to </a:t>
            </a:r>
            <a:r>
              <a:rPr lang="en" sz="1200">
                <a:solidFill>
                  <a:srgbClr val="188038"/>
                </a:solidFill>
                <a:latin typeface="Old Standard TT"/>
                <a:ea typeface="Old Standard TT"/>
                <a:cs typeface="Old Standard TT"/>
                <a:sym typeface="Old Standard TT"/>
              </a:rPr>
              <a:t>/</a:t>
            </a:r>
            <a:r>
              <a:rPr lang="en"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a:p>
            <a:pPr indent="0" lvl="0" marL="0" rtl="0" algn="l">
              <a:lnSpc>
                <a:spcPct val="115000"/>
              </a:lnSpc>
              <a:spcBef>
                <a:spcPts val="1400"/>
              </a:spcBef>
              <a:spcAft>
                <a:spcPts val="0"/>
              </a:spcAft>
              <a:buNone/>
            </a:pPr>
            <a:r>
              <a:rPr b="1" lang="en">
                <a:solidFill>
                  <a:schemeClr val="dk1"/>
                </a:solidFill>
                <a:latin typeface="Old Standard TT"/>
                <a:ea typeface="Old Standard TT"/>
                <a:cs typeface="Old Standard TT"/>
                <a:sym typeface="Old Standard TT"/>
              </a:rPr>
              <a:t>2. Request Handling (Flask Backend)</a:t>
            </a:r>
            <a:endParaRPr b="1">
              <a:solidFill>
                <a:schemeClr val="dk1"/>
              </a:solidFill>
              <a:latin typeface="Old Standard TT"/>
              <a:ea typeface="Old Standard TT"/>
              <a:cs typeface="Old Standard TT"/>
              <a:sym typeface="Old Standard TT"/>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latin typeface="Old Standard TT"/>
                <a:ea typeface="Old Standard TT"/>
                <a:cs typeface="Old Standard TT"/>
                <a:sym typeface="Old Standard TT"/>
              </a:rPr>
              <a:t>Flask route </a:t>
            </a:r>
            <a:r>
              <a:rPr lang="en" sz="1200">
                <a:solidFill>
                  <a:srgbClr val="188038"/>
                </a:solidFill>
                <a:latin typeface="Old Standard TT"/>
                <a:ea typeface="Old Standard TT"/>
                <a:cs typeface="Old Standard TT"/>
                <a:sym typeface="Old Standard TT"/>
              </a:rPr>
              <a:t>/</a:t>
            </a:r>
            <a:r>
              <a:rPr lang="en" sz="1200">
                <a:solidFill>
                  <a:schemeClr val="dk1"/>
                </a:solidFill>
                <a:latin typeface="Old Standard TT"/>
                <a:ea typeface="Old Standard TT"/>
                <a:cs typeface="Old Standard TT"/>
                <a:sym typeface="Old Standard TT"/>
              </a:rPr>
              <a:t> receives the request.</a:t>
            </a:r>
            <a:endParaRPr sz="1200">
              <a:solidFill>
                <a:schemeClr val="dk1"/>
              </a:solidFill>
              <a:latin typeface="Old Standard TT"/>
              <a:ea typeface="Old Standard TT"/>
              <a:cs typeface="Old Standard TT"/>
              <a:sym typeface="Old Standard TT"/>
            </a:endParaRPr>
          </a:p>
          <a:p>
            <a:pPr indent="-304800" lvl="0" marL="457200" rtl="0" algn="l">
              <a:lnSpc>
                <a:spcPct val="115000"/>
              </a:lnSpc>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Session chat history is initialized if not already present.</a:t>
            </a:r>
            <a:endParaRPr sz="1200">
              <a:solidFill>
                <a:schemeClr val="dk1"/>
              </a:solidFill>
              <a:latin typeface="Old Standard TT"/>
              <a:ea typeface="Old Standard TT"/>
              <a:cs typeface="Old Standard TT"/>
              <a:sym typeface="Old Standard TT"/>
            </a:endParaRPr>
          </a:p>
          <a:p>
            <a:pPr indent="0" lvl="0" marL="0" rtl="0" algn="l">
              <a:lnSpc>
                <a:spcPct val="115000"/>
              </a:lnSpc>
              <a:spcBef>
                <a:spcPts val="1400"/>
              </a:spcBef>
              <a:spcAft>
                <a:spcPts val="0"/>
              </a:spcAft>
              <a:buNone/>
            </a:pPr>
            <a:r>
              <a:rPr b="1" lang="en">
                <a:solidFill>
                  <a:schemeClr val="dk1"/>
                </a:solidFill>
                <a:latin typeface="Old Standard TT"/>
                <a:ea typeface="Old Standard TT"/>
                <a:cs typeface="Old Standard TT"/>
                <a:sym typeface="Old Standard TT"/>
              </a:rPr>
              <a:t>3. I</a:t>
            </a:r>
            <a:r>
              <a:rPr b="1" lang="en">
                <a:solidFill>
                  <a:schemeClr val="dk1"/>
                </a:solidFill>
                <a:latin typeface="Old Standard TT"/>
                <a:ea typeface="Old Standard TT"/>
                <a:cs typeface="Old Standard TT"/>
                <a:sym typeface="Old Standard TT"/>
              </a:rPr>
              <a:t>n</a:t>
            </a:r>
            <a:r>
              <a:rPr b="1" lang="en">
                <a:solidFill>
                  <a:schemeClr val="dk1"/>
                </a:solidFill>
                <a:latin typeface="Old Standard TT"/>
                <a:ea typeface="Old Standard TT"/>
                <a:cs typeface="Old Standard TT"/>
                <a:sym typeface="Old Standard TT"/>
              </a:rPr>
              <a:t>put Validation &amp; Preprocessing</a:t>
            </a:r>
            <a:endParaRPr b="1">
              <a:solidFill>
                <a:schemeClr val="dk1"/>
              </a:solidFill>
              <a:latin typeface="Old Standard TT"/>
              <a:ea typeface="Old Standard TT"/>
              <a:cs typeface="Old Standard TT"/>
              <a:sym typeface="Old Standard TT"/>
            </a:endParaRPr>
          </a:p>
          <a:p>
            <a:pPr indent="-304800" lvl="0" marL="457200" rtl="0" algn="l">
              <a:lnSpc>
                <a:spcPct val="115000"/>
              </a:lnSpc>
              <a:spcBef>
                <a:spcPts val="120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Checks if input is empty → returns warning if true.</a:t>
            </a:r>
            <a:endParaRPr sz="1200">
              <a:solidFill>
                <a:schemeClr val="dk1"/>
              </a:solidFill>
              <a:latin typeface="Old Standard TT"/>
              <a:ea typeface="Old Standard TT"/>
              <a:cs typeface="Old Standard TT"/>
              <a:sym typeface="Old Standard TT"/>
            </a:endParaRPr>
          </a:p>
          <a:p>
            <a:pPr indent="-304800" lvl="0" marL="457200" rtl="0" algn="l">
              <a:lnSpc>
                <a:spcPct val="115000"/>
              </a:lnSpc>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Applies normalization rules.</a:t>
            </a:r>
            <a:endParaRPr sz="1200">
              <a:solidFill>
                <a:schemeClr val="dk1"/>
              </a:solidFill>
              <a:latin typeface="Old Standard TT"/>
              <a:ea typeface="Old Standard TT"/>
              <a:cs typeface="Old Standard TT"/>
              <a:sym typeface="Old Standard TT"/>
            </a:endParaRPr>
          </a:p>
          <a:p>
            <a:pPr indent="-304800" lvl="0" marL="457200" rtl="0" algn="l">
              <a:lnSpc>
                <a:spcPct val="115000"/>
              </a:lnSpc>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Extracts section numbers and ranges using regex:</a:t>
            </a:r>
            <a:endParaRPr sz="1200">
              <a:solidFill>
                <a:schemeClr val="dk1"/>
              </a:solidFill>
              <a:latin typeface="Old Standard TT"/>
              <a:ea typeface="Old Standard TT"/>
              <a:cs typeface="Old Standard TT"/>
              <a:sym typeface="Old Standard TT"/>
            </a:endParaRPr>
          </a:p>
          <a:p>
            <a:pPr indent="-304800" lvl="1" marL="914400" rtl="0" algn="l">
              <a:lnSpc>
                <a:spcPct val="115000"/>
              </a:lnSpc>
              <a:spcBef>
                <a:spcPts val="0"/>
              </a:spcBef>
              <a:spcAft>
                <a:spcPts val="0"/>
              </a:spcAft>
              <a:buClr>
                <a:schemeClr val="dk1"/>
              </a:buClr>
              <a:buSzPts val="1200"/>
              <a:buFont typeface="Old Standard TT"/>
              <a:buAutoNum type="alphaLcPeriod"/>
            </a:pPr>
            <a:r>
              <a:rPr lang="en" sz="1200">
                <a:solidFill>
                  <a:schemeClr val="dk1"/>
                </a:solidFill>
                <a:latin typeface="Old Standard TT"/>
                <a:ea typeface="Old Standard TT"/>
                <a:cs typeface="Old Standard TT"/>
                <a:sym typeface="Old Standard TT"/>
              </a:rPr>
              <a:t>from section X to section Y</a:t>
            </a:r>
            <a:endParaRPr sz="1200">
              <a:solidFill>
                <a:schemeClr val="dk1"/>
              </a:solidFill>
              <a:latin typeface="Old Standard TT"/>
              <a:ea typeface="Old Standard TT"/>
              <a:cs typeface="Old Standard TT"/>
              <a:sym typeface="Old Standard TT"/>
            </a:endParaRPr>
          </a:p>
          <a:p>
            <a:pPr indent="-304800" lvl="1" marL="914400" rtl="0" algn="l">
              <a:lnSpc>
                <a:spcPct val="115000"/>
              </a:lnSpc>
              <a:spcBef>
                <a:spcPts val="0"/>
              </a:spcBef>
              <a:spcAft>
                <a:spcPts val="0"/>
              </a:spcAft>
              <a:buClr>
                <a:schemeClr val="dk1"/>
              </a:buClr>
              <a:buSzPts val="1200"/>
              <a:buFont typeface="Old Standard TT"/>
              <a:buAutoNum type="alphaLcPeriod"/>
            </a:pPr>
            <a:r>
              <a:rPr lang="en" sz="1200">
                <a:solidFill>
                  <a:schemeClr val="dk1"/>
                </a:solidFill>
                <a:latin typeface="Old Standard TT"/>
                <a:ea typeface="Old Standard TT"/>
                <a:cs typeface="Old Standard TT"/>
                <a:sym typeface="Old Standard TT"/>
              </a:rPr>
              <a:t>section 10, 12, and 14</a:t>
            </a:r>
            <a:endParaRPr sz="1200">
              <a:solidFill>
                <a:schemeClr val="dk1"/>
              </a:solidFill>
              <a:latin typeface="Old Standard TT"/>
              <a:ea typeface="Old Standard TT"/>
              <a:cs typeface="Old Standard TT"/>
              <a:sym typeface="Old Standard TT"/>
            </a:endParaRPr>
          </a:p>
          <a:p>
            <a:pPr indent="-304800" lvl="1" marL="914400" rtl="0" algn="l">
              <a:lnSpc>
                <a:spcPct val="115000"/>
              </a:lnSpc>
              <a:spcBef>
                <a:spcPts val="0"/>
              </a:spcBef>
              <a:spcAft>
                <a:spcPts val="0"/>
              </a:spcAft>
              <a:buClr>
                <a:schemeClr val="dk1"/>
              </a:buClr>
              <a:buSzPts val="1200"/>
              <a:buFont typeface="Old Standard TT"/>
              <a:buAutoNum type="alphaLcPeriod"/>
            </a:pPr>
            <a:r>
              <a:rPr lang="en" sz="1200">
                <a:solidFill>
                  <a:schemeClr val="dk1"/>
                </a:solidFill>
                <a:latin typeface="Old Standard TT"/>
                <a:ea typeface="Old Standard TT"/>
                <a:cs typeface="Old Standard TT"/>
                <a:sym typeface="Old Standard TT"/>
              </a:rPr>
              <a:t>Filters valid sections (1–358) and tracks invalid ones.</a:t>
            </a:r>
            <a:endParaRPr sz="1200">
              <a:solidFill>
                <a:schemeClr val="dk1"/>
              </a:solidFill>
              <a:latin typeface="Old Standard TT"/>
              <a:ea typeface="Old Standard TT"/>
              <a:cs typeface="Old Standard TT"/>
              <a:sym typeface="Old Standard T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Architecture</a:t>
            </a:r>
            <a:endParaRPr b="1"/>
          </a:p>
        </p:txBody>
      </p:sp>
      <p:sp>
        <p:nvSpPr>
          <p:cNvPr id="138" name="Google Shape;138;p26"/>
          <p:cNvSpPr txBox="1"/>
          <p:nvPr/>
        </p:nvSpPr>
        <p:spPr>
          <a:xfrm>
            <a:off x="348050" y="1060825"/>
            <a:ext cx="8226000" cy="424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600">
                <a:solidFill>
                  <a:schemeClr val="dk1"/>
                </a:solidFill>
                <a:latin typeface="Old Standard TT"/>
                <a:ea typeface="Old Standard TT"/>
                <a:cs typeface="Old Standard TT"/>
                <a:sym typeface="Old Standard TT"/>
              </a:rPr>
              <a:t>4. Exact Section Match (ChromaDB Lookup)</a:t>
            </a:r>
            <a:endParaRPr b="1" sz="1600">
              <a:solidFill>
                <a:schemeClr val="dk1"/>
              </a:solidFill>
              <a:latin typeface="Old Standard TT"/>
              <a:ea typeface="Old Standard TT"/>
              <a:cs typeface="Old Standard TT"/>
              <a:sym typeface="Old Standard TT"/>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latin typeface="Old Standard TT"/>
                <a:ea typeface="Old Standard TT"/>
                <a:cs typeface="Old Standard TT"/>
                <a:sym typeface="Old Standard TT"/>
              </a:rPr>
              <a:t>Retrieves all metadata from ChromaDB collection bns_laws.</a:t>
            </a:r>
            <a:endParaRPr>
              <a:solidFill>
                <a:schemeClr val="dk1"/>
              </a:solidFill>
              <a:latin typeface="Old Standard TT"/>
              <a:ea typeface="Old Standard TT"/>
              <a:cs typeface="Old Standard TT"/>
              <a:sym typeface="Old Standard TT"/>
            </a:endParaRPr>
          </a:p>
          <a:p>
            <a:pPr indent="-317500" lvl="0" marL="45720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Searches for exact matches by section number.</a:t>
            </a:r>
            <a:endParaRPr>
              <a:solidFill>
                <a:schemeClr val="dk1"/>
              </a:solidFill>
              <a:latin typeface="Old Standard TT"/>
              <a:ea typeface="Old Standard TT"/>
              <a:cs typeface="Old Standard TT"/>
              <a:sym typeface="Old Standard TT"/>
            </a:endParaRPr>
          </a:p>
          <a:p>
            <a:pPr indent="-317500" lvl="0" marL="457200" rtl="0" algn="l">
              <a:lnSpc>
                <a:spcPct val="115000"/>
              </a:lnSpc>
              <a:spcBef>
                <a:spcPts val="0"/>
              </a:spcBef>
              <a:spcAft>
                <a:spcPts val="0"/>
              </a:spcAft>
              <a:buClr>
                <a:schemeClr val="dk1"/>
              </a:buClr>
              <a:buSzPts val="1400"/>
              <a:buChar char="●"/>
            </a:pPr>
            <a:r>
              <a:rPr lang="en">
                <a:solidFill>
                  <a:schemeClr val="dk1"/>
                </a:solidFill>
                <a:latin typeface="Old Standard TT"/>
                <a:ea typeface="Old Standard TT"/>
                <a:cs typeface="Old Standard TT"/>
                <a:sym typeface="Old Standard TT"/>
              </a:rPr>
              <a:t>Prepares formatted_results with:</a:t>
            </a:r>
            <a:endParaRPr>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law_type</a:t>
            </a:r>
            <a:endParaRPr>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section_summary</a:t>
            </a:r>
            <a:endParaRPr>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source_url</a:t>
            </a:r>
            <a:endParaRPr>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match_type = "Exact"</a:t>
            </a:r>
            <a:endParaRPr>
              <a:solidFill>
                <a:schemeClr val="dk1"/>
              </a:solidFill>
              <a:latin typeface="Old Standard TT"/>
              <a:ea typeface="Old Standard TT"/>
              <a:cs typeface="Old Standard TT"/>
              <a:sym typeface="Old Standard TT"/>
            </a:endParaRPr>
          </a:p>
          <a:p>
            <a:pPr indent="0" lvl="0" marL="0" rtl="0" algn="l">
              <a:lnSpc>
                <a:spcPct val="115000"/>
              </a:lnSpc>
              <a:spcBef>
                <a:spcPts val="1400"/>
              </a:spcBef>
              <a:spcAft>
                <a:spcPts val="0"/>
              </a:spcAft>
              <a:buNone/>
            </a:pPr>
            <a:r>
              <a:rPr b="1" lang="en" sz="1600">
                <a:solidFill>
                  <a:schemeClr val="dk1"/>
                </a:solidFill>
                <a:latin typeface="Old Standard TT"/>
                <a:ea typeface="Old Standard TT"/>
                <a:cs typeface="Old Standard TT"/>
                <a:sym typeface="Old Standard TT"/>
              </a:rPr>
              <a:t>5. Fallback: Semantic Search + Groq LLM</a:t>
            </a:r>
            <a:endParaRPr b="1" sz="16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a:solidFill>
                  <a:schemeClr val="dk1"/>
                </a:solidFill>
                <a:latin typeface="Old Standard TT"/>
                <a:ea typeface="Old Standard TT"/>
                <a:cs typeface="Old Standard TT"/>
                <a:sym typeface="Old Standard TT"/>
              </a:rPr>
              <a:t>If </a:t>
            </a:r>
            <a:r>
              <a:rPr b="1" lang="en">
                <a:solidFill>
                  <a:schemeClr val="dk1"/>
                </a:solidFill>
                <a:latin typeface="Old Standard TT"/>
                <a:ea typeface="Old Standard TT"/>
                <a:cs typeface="Old Standard TT"/>
                <a:sym typeface="Old Standard TT"/>
              </a:rPr>
              <a:t>no exact match found</a:t>
            </a:r>
            <a:r>
              <a:rPr lang="en">
                <a:solidFill>
                  <a:schemeClr val="dk1"/>
                </a:solidFill>
                <a:latin typeface="Old Standard TT"/>
                <a:ea typeface="Old Standard TT"/>
                <a:cs typeface="Old Standard TT"/>
                <a:sym typeface="Old Standard TT"/>
              </a:rPr>
              <a:t>:</a:t>
            </a:r>
            <a:endParaRPr>
              <a:solidFill>
                <a:schemeClr val="dk1"/>
              </a:solidFill>
              <a:latin typeface="Old Standard TT"/>
              <a:ea typeface="Old Standard TT"/>
              <a:cs typeface="Old Standard TT"/>
              <a:sym typeface="Old Standard TT"/>
            </a:endParaRPr>
          </a:p>
          <a:p>
            <a:pPr indent="-317500" lvl="0" marL="457200" rtl="0" algn="l">
              <a:lnSpc>
                <a:spcPct val="115000"/>
              </a:lnSpc>
              <a:spcBef>
                <a:spcPts val="1200"/>
              </a:spcBef>
              <a:spcAft>
                <a:spcPts val="0"/>
              </a:spcAft>
              <a:buClr>
                <a:schemeClr val="dk1"/>
              </a:buClr>
              <a:buSzPts val="1400"/>
              <a:buFont typeface="Old Standard TT"/>
              <a:buAutoNum type="arabicPeriod"/>
            </a:pPr>
            <a:r>
              <a:rPr b="1" lang="en">
                <a:solidFill>
                  <a:schemeClr val="dk1"/>
                </a:solidFill>
                <a:latin typeface="Old Standard TT"/>
                <a:ea typeface="Old Standard TT"/>
                <a:cs typeface="Old Standard TT"/>
                <a:sym typeface="Old Standard TT"/>
              </a:rPr>
              <a:t>Query Rephrasing</a:t>
            </a:r>
            <a:endParaRPr b="1">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Char char="○"/>
            </a:pPr>
            <a:r>
              <a:rPr lang="en">
                <a:solidFill>
                  <a:schemeClr val="dk1"/>
                </a:solidFill>
                <a:latin typeface="Old Standard TT"/>
                <a:ea typeface="Old Standard TT"/>
                <a:cs typeface="Old Standard TT"/>
                <a:sym typeface="Old Standard TT"/>
              </a:rPr>
              <a:t>Uses Groq LLM to rephrase the user query into a concise legal version.</a:t>
            </a:r>
            <a:endParaRPr>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1200"/>
              </a:spcAft>
              <a:buNone/>
            </a:pPr>
            <a:r>
              <a:t/>
            </a:r>
            <a:endParaRPr>
              <a:solidFill>
                <a:schemeClr val="dk1"/>
              </a:solidFill>
              <a:latin typeface="Old Standard TT"/>
              <a:ea typeface="Old Standard TT"/>
              <a:cs typeface="Old Standard TT"/>
              <a:sym typeface="Old Standard T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1275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Architecture</a:t>
            </a:r>
            <a:endParaRPr b="1"/>
          </a:p>
        </p:txBody>
      </p:sp>
      <p:sp>
        <p:nvSpPr>
          <p:cNvPr id="144" name="Google Shape;144;p27"/>
          <p:cNvSpPr txBox="1"/>
          <p:nvPr/>
        </p:nvSpPr>
        <p:spPr>
          <a:xfrm>
            <a:off x="311700" y="658650"/>
            <a:ext cx="8226000" cy="438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dk1"/>
                </a:solidFill>
                <a:latin typeface="Old Standard TT"/>
                <a:ea typeface="Old Standard TT"/>
                <a:cs typeface="Old Standard TT"/>
                <a:sym typeface="Old Standard TT"/>
              </a:rPr>
              <a:t> </a:t>
            </a:r>
            <a:r>
              <a:rPr lang="en" sz="1200">
                <a:solidFill>
                  <a:schemeClr val="dk1"/>
                </a:solidFill>
                <a:latin typeface="Old Standard TT"/>
                <a:ea typeface="Old Standard TT"/>
                <a:cs typeface="Old Standard TT"/>
                <a:sym typeface="Old Standard TT"/>
              </a:rPr>
              <a:t>   2. </a:t>
            </a:r>
            <a:r>
              <a:rPr b="1" lang="en" sz="1200">
                <a:solidFill>
                  <a:schemeClr val="dk1"/>
                </a:solidFill>
                <a:latin typeface="Old Standard TT"/>
                <a:ea typeface="Old Standard TT"/>
                <a:cs typeface="Old Standard TT"/>
                <a:sym typeface="Old Standard TT"/>
              </a:rPr>
              <a:t>	</a:t>
            </a:r>
            <a:r>
              <a:rPr b="1" lang="en" sz="1200">
                <a:solidFill>
                  <a:schemeClr val="dk1"/>
                </a:solidFill>
                <a:latin typeface="Old Standard TT"/>
                <a:ea typeface="Old Standard TT"/>
                <a:cs typeface="Old Standard TT"/>
                <a:sym typeface="Old Standard TT"/>
              </a:rPr>
              <a:t>Semantic Vector Search</a:t>
            </a:r>
            <a:endParaRPr b="1" sz="1200">
              <a:solidFill>
                <a:schemeClr val="dk1"/>
              </a:solidFill>
              <a:latin typeface="Old Standard TT"/>
              <a:ea typeface="Old Standard TT"/>
              <a:cs typeface="Old Standard TT"/>
              <a:sym typeface="Old Standard TT"/>
            </a:endParaRPr>
          </a:p>
          <a:p>
            <a:pPr indent="-304800" lvl="1" marL="914400" rtl="0" algn="l">
              <a:lnSpc>
                <a:spcPct val="115000"/>
              </a:lnSpc>
              <a:spcBef>
                <a:spcPts val="1200"/>
              </a:spcBef>
              <a:spcAft>
                <a:spcPts val="0"/>
              </a:spcAft>
              <a:buClr>
                <a:schemeClr val="dk1"/>
              </a:buClr>
              <a:buSzPts val="1200"/>
              <a:buChar char="○"/>
            </a:pPr>
            <a:r>
              <a:rPr lang="en" sz="1200">
                <a:solidFill>
                  <a:schemeClr val="dk1"/>
                </a:solidFill>
                <a:latin typeface="Old Standard TT"/>
                <a:ea typeface="Old Standard TT"/>
                <a:cs typeface="Old Standard TT"/>
                <a:sym typeface="Old Standard TT"/>
              </a:rPr>
              <a:t>Encodes rephrased query with SentenceTransformer.</a:t>
            </a:r>
            <a:endParaRPr sz="1200">
              <a:solidFill>
                <a:schemeClr val="dk1"/>
              </a:solidFill>
              <a:latin typeface="Old Standard TT"/>
              <a:ea typeface="Old Standard TT"/>
              <a:cs typeface="Old Standard TT"/>
              <a:sym typeface="Old Standard TT"/>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latin typeface="Old Standard TT"/>
                <a:ea typeface="Old Standard TT"/>
                <a:cs typeface="Old Standard TT"/>
                <a:sym typeface="Old Standard TT"/>
              </a:rPr>
              <a:t>Performs vector search on ChromaDB (n_results=15).</a:t>
            </a:r>
            <a:endParaRPr sz="1200">
              <a:solidFill>
                <a:schemeClr val="dk1"/>
              </a:solidFill>
              <a:latin typeface="Old Standard TT"/>
              <a:ea typeface="Old Standard TT"/>
              <a:cs typeface="Old Standard TT"/>
              <a:sym typeface="Old Standard TT"/>
            </a:endParaRPr>
          </a:p>
          <a:p>
            <a:pPr indent="-304800" lvl="1" marL="914400" rtl="0" algn="l">
              <a:lnSpc>
                <a:spcPct val="115000"/>
              </a:lnSpc>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Gathers top relevant context summaries.</a:t>
            </a:r>
            <a:endParaRPr sz="1200">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sz="1200">
                <a:solidFill>
                  <a:schemeClr val="dk1"/>
                </a:solidFill>
                <a:latin typeface="Old Standard TT"/>
                <a:ea typeface="Old Standard TT"/>
                <a:cs typeface="Old Standard TT"/>
                <a:sym typeface="Old Standard TT"/>
              </a:rPr>
              <a:t>    3.</a:t>
            </a:r>
            <a:r>
              <a:rPr b="1" lang="en" sz="1200">
                <a:solidFill>
                  <a:schemeClr val="dk1"/>
                </a:solidFill>
                <a:latin typeface="Old Standard TT"/>
                <a:ea typeface="Old Standard TT"/>
                <a:cs typeface="Old Standard TT"/>
                <a:sym typeface="Old Standard TT"/>
              </a:rPr>
              <a:t> 	LLM Response Generation</a:t>
            </a:r>
            <a:endParaRPr b="1" sz="1200">
              <a:solidFill>
                <a:schemeClr val="dk1"/>
              </a:solidFill>
              <a:latin typeface="Old Standard TT"/>
              <a:ea typeface="Old Standard TT"/>
              <a:cs typeface="Old Standard TT"/>
              <a:sym typeface="Old Standard TT"/>
            </a:endParaRPr>
          </a:p>
          <a:p>
            <a:pPr indent="-304800" lvl="1" marL="914400" rtl="0" algn="l">
              <a:lnSpc>
                <a:spcPct val="115000"/>
              </a:lnSpc>
              <a:spcBef>
                <a:spcPts val="1200"/>
              </a:spcBef>
              <a:spcAft>
                <a:spcPts val="0"/>
              </a:spcAft>
              <a:buClr>
                <a:schemeClr val="dk1"/>
              </a:buClr>
              <a:buSzPts val="1200"/>
              <a:buChar char="○"/>
            </a:pPr>
            <a:r>
              <a:rPr lang="en" sz="1200">
                <a:solidFill>
                  <a:schemeClr val="dk1"/>
                </a:solidFill>
                <a:latin typeface="Old Standard TT"/>
                <a:ea typeface="Old Standard TT"/>
                <a:cs typeface="Old Standard TT"/>
                <a:sym typeface="Old Standard TT"/>
              </a:rPr>
              <a:t>Calls Groq LLM with:</a:t>
            </a:r>
            <a:endParaRPr sz="1200">
              <a:solidFill>
                <a:schemeClr val="dk1"/>
              </a:solidFill>
              <a:latin typeface="Old Standard TT"/>
              <a:ea typeface="Old Standard TT"/>
              <a:cs typeface="Old Standard TT"/>
              <a:sym typeface="Old Standard TT"/>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latin typeface="Old Standard TT"/>
                <a:ea typeface="Old Standard TT"/>
                <a:cs typeface="Old Standard TT"/>
                <a:sym typeface="Old Standard TT"/>
              </a:rPr>
              <a:t>Top section_summary context documents</a:t>
            </a:r>
            <a:endParaRPr sz="1200">
              <a:solidFill>
                <a:schemeClr val="dk1"/>
              </a:solidFill>
              <a:latin typeface="Old Standard TT"/>
              <a:ea typeface="Old Standard TT"/>
              <a:cs typeface="Old Standard TT"/>
              <a:sym typeface="Old Standard TT"/>
            </a:endParaRPr>
          </a:p>
          <a:p>
            <a:pPr indent="-304800" lvl="2" marL="1371600" rtl="0" algn="l">
              <a:lnSpc>
                <a:spcPct val="115000"/>
              </a:lnSpc>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Last 5 turns of chat history</a:t>
            </a:r>
            <a:endParaRPr sz="1200">
              <a:solidFill>
                <a:schemeClr val="dk1"/>
              </a:solidFill>
              <a:latin typeface="Old Standard TT"/>
              <a:ea typeface="Old Standard TT"/>
              <a:cs typeface="Old Standard TT"/>
              <a:sym typeface="Old Standard TT"/>
            </a:endParaRPr>
          </a:p>
          <a:p>
            <a:pPr indent="-304800" lvl="2" marL="1371600" rtl="0" algn="l">
              <a:lnSpc>
                <a:spcPct val="115000"/>
              </a:lnSpc>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Original user query</a:t>
            </a:r>
            <a:endParaRPr sz="1200">
              <a:solidFill>
                <a:schemeClr val="dk1"/>
              </a:solidFill>
              <a:latin typeface="Old Standard TT"/>
              <a:ea typeface="Old Standard TT"/>
              <a:cs typeface="Old Standard TT"/>
              <a:sym typeface="Old Standard TT"/>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latin typeface="Old Standard TT"/>
                <a:ea typeface="Old Standard TT"/>
                <a:cs typeface="Old Standard TT"/>
                <a:sym typeface="Old Standard TT"/>
              </a:rPr>
              <a:t>Returns a </a:t>
            </a:r>
            <a:r>
              <a:rPr b="1" lang="en" sz="1200">
                <a:solidFill>
                  <a:schemeClr val="dk1"/>
                </a:solidFill>
                <a:latin typeface="Old Standard TT"/>
                <a:ea typeface="Old Standard TT"/>
                <a:cs typeface="Old Standard TT"/>
                <a:sym typeface="Old Standard TT"/>
              </a:rPr>
              <a:t>natural language legal explanation</a:t>
            </a:r>
            <a:r>
              <a:rPr lang="en" sz="1200">
                <a:solidFill>
                  <a:schemeClr val="dk1"/>
                </a:solidFill>
                <a:latin typeface="Old Standard TT"/>
                <a:ea typeface="Old Standard TT"/>
                <a:cs typeface="Old Standard TT"/>
                <a:sym typeface="Old Standard TT"/>
              </a:rPr>
              <a:t> based on context.</a:t>
            </a:r>
            <a:endParaRPr sz="1200">
              <a:solidFill>
                <a:schemeClr val="dk1"/>
              </a:solidFill>
              <a:latin typeface="Old Standard TT"/>
              <a:ea typeface="Old Standard TT"/>
              <a:cs typeface="Old Standard TT"/>
              <a:sym typeface="Old Standard TT"/>
            </a:endParaRPr>
          </a:p>
          <a:p>
            <a:pPr indent="0" lvl="0" marL="0" rtl="0" algn="l">
              <a:lnSpc>
                <a:spcPct val="115000"/>
              </a:lnSpc>
              <a:spcBef>
                <a:spcPts val="1400"/>
              </a:spcBef>
              <a:spcAft>
                <a:spcPts val="0"/>
              </a:spcAft>
              <a:buNone/>
            </a:pPr>
            <a:r>
              <a:rPr b="1" lang="en">
                <a:solidFill>
                  <a:schemeClr val="dk1"/>
                </a:solidFill>
                <a:latin typeface="Old Standard TT"/>
                <a:ea typeface="Old Standard TT"/>
                <a:cs typeface="Old Standard TT"/>
                <a:sym typeface="Old Standard TT"/>
              </a:rPr>
              <a:t>6. Response Formatting</a:t>
            </a:r>
            <a:endParaRPr b="1">
              <a:solidFill>
                <a:schemeClr val="dk1"/>
              </a:solidFill>
              <a:latin typeface="Old Standard TT"/>
              <a:ea typeface="Old Standard TT"/>
              <a:cs typeface="Old Standard TT"/>
              <a:sym typeface="Old Standard TT"/>
            </a:endParaRPr>
          </a:p>
          <a:p>
            <a:pPr indent="-304800" lvl="0" marL="457200" rtl="0" algn="l">
              <a:lnSpc>
                <a:spcPct val="115000"/>
              </a:lnSpc>
              <a:spcBef>
                <a:spcPts val="120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If LLM returns a response:</a:t>
            </a:r>
            <a:endParaRPr sz="1200">
              <a:solidFill>
                <a:schemeClr val="dk1"/>
              </a:solidFill>
              <a:latin typeface="Old Standard TT"/>
              <a:ea typeface="Old Standard TT"/>
              <a:cs typeface="Old Standard TT"/>
              <a:sym typeface="Old Standard TT"/>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latin typeface="Old Standard TT"/>
                <a:ea typeface="Old Standard TT"/>
                <a:cs typeface="Old Standard TT"/>
                <a:sym typeface="Old Standard TT"/>
              </a:rPr>
              <a:t>Add </a:t>
            </a:r>
            <a:r>
              <a:rPr lang="en" sz="1200">
                <a:solidFill>
                  <a:srgbClr val="188038"/>
                </a:solidFill>
                <a:latin typeface="Old Standard TT"/>
                <a:ea typeface="Old Standard TT"/>
                <a:cs typeface="Old Standard TT"/>
                <a:sym typeface="Old Standard TT"/>
              </a:rPr>
              <a:t>Groq AI</a:t>
            </a:r>
            <a:r>
              <a:rPr lang="en" sz="1200">
                <a:solidFill>
                  <a:schemeClr val="dk1"/>
                </a:solidFill>
                <a:latin typeface="Old Standard TT"/>
                <a:ea typeface="Old Standard TT"/>
                <a:cs typeface="Old Standard TT"/>
                <a:sym typeface="Old Standard TT"/>
              </a:rPr>
              <a:t> result to </a:t>
            </a:r>
            <a:r>
              <a:rPr lang="en" sz="1200">
                <a:solidFill>
                  <a:srgbClr val="188038"/>
                </a:solidFill>
                <a:latin typeface="Old Standard TT"/>
                <a:ea typeface="Old Standard TT"/>
                <a:cs typeface="Old Standard TT"/>
                <a:sym typeface="Old Standard TT"/>
              </a:rPr>
              <a:t>formatted_results</a:t>
            </a:r>
            <a:endParaRPr sz="1200">
              <a:solidFill>
                <a:srgbClr val="188038"/>
              </a:solidFill>
              <a:latin typeface="Old Standard TT"/>
              <a:ea typeface="Old Standard TT"/>
              <a:cs typeface="Old Standard TT"/>
              <a:sym typeface="Old Standard TT"/>
            </a:endParaRPr>
          </a:p>
          <a:p>
            <a:pPr indent="-304800" lvl="1" marL="914400" rtl="0" algn="l">
              <a:lnSpc>
                <a:spcPct val="115000"/>
              </a:lnSpc>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Add source URLs if present</a:t>
            </a:r>
            <a:endParaRPr sz="1200">
              <a:solidFill>
                <a:schemeClr val="dk1"/>
              </a:solidFill>
              <a:latin typeface="Old Standard TT"/>
              <a:ea typeface="Old Standard TT"/>
              <a:cs typeface="Old Standard TT"/>
              <a:sym typeface="Old Standard TT"/>
            </a:endParaRPr>
          </a:p>
          <a:p>
            <a:pPr indent="-304800" lvl="0" marL="457200" rtl="0" algn="l">
              <a:lnSpc>
                <a:spcPct val="115000"/>
              </a:lnSpc>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If no results:</a:t>
            </a:r>
            <a:endParaRPr sz="1200">
              <a:solidFill>
                <a:schemeClr val="dk1"/>
              </a:solidFill>
              <a:latin typeface="Old Standard TT"/>
              <a:ea typeface="Old Standard TT"/>
              <a:cs typeface="Old Standard TT"/>
              <a:sym typeface="Old Standard TT"/>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latin typeface="Old Standard TT"/>
                <a:ea typeface="Old Standard TT"/>
                <a:cs typeface="Old Standard TT"/>
                <a:sym typeface="Old Standard TT"/>
              </a:rPr>
              <a:t>Add </a:t>
            </a:r>
            <a:r>
              <a:rPr lang="en" sz="1200">
                <a:solidFill>
                  <a:srgbClr val="188038"/>
                </a:solidFill>
                <a:latin typeface="Old Standard TT"/>
                <a:ea typeface="Old Standard TT"/>
                <a:cs typeface="Old Standard TT"/>
                <a:sym typeface="Old Standard TT"/>
              </a:rPr>
              <a:t>"❌ No matches found"</a:t>
            </a:r>
            <a:r>
              <a:rPr lang="en" sz="1200">
                <a:solidFill>
                  <a:schemeClr val="dk1"/>
                </a:solidFill>
                <a:latin typeface="Old Standard TT"/>
                <a:ea typeface="Old Standard TT"/>
                <a:cs typeface="Old Standard TT"/>
                <a:sym typeface="Old Standard TT"/>
              </a:rPr>
              <a:t> to response</a:t>
            </a:r>
            <a:endParaRPr sz="1200">
              <a:solidFill>
                <a:schemeClr val="dk1"/>
              </a:solidFill>
              <a:latin typeface="Old Standard TT"/>
              <a:ea typeface="Old Standard TT"/>
              <a:cs typeface="Old Standard TT"/>
              <a:sym typeface="Old Standard T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Architecture</a:t>
            </a:r>
            <a:endParaRPr b="1"/>
          </a:p>
        </p:txBody>
      </p:sp>
      <p:sp>
        <p:nvSpPr>
          <p:cNvPr id="150" name="Google Shape;150;p28"/>
          <p:cNvSpPr txBox="1"/>
          <p:nvPr/>
        </p:nvSpPr>
        <p:spPr>
          <a:xfrm>
            <a:off x="348050" y="1060825"/>
            <a:ext cx="8226000" cy="269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 sz="1600">
                <a:solidFill>
                  <a:schemeClr val="dk1"/>
                </a:solidFill>
                <a:latin typeface="Old Standard TT"/>
                <a:ea typeface="Old Standard TT"/>
                <a:cs typeface="Old Standard TT"/>
                <a:sym typeface="Old Standard TT"/>
              </a:rPr>
              <a:t>7. Chat History Management</a:t>
            </a:r>
            <a:endParaRPr b="1" sz="1600">
              <a:solidFill>
                <a:schemeClr val="dk1"/>
              </a:solidFill>
              <a:latin typeface="Old Standard TT"/>
              <a:ea typeface="Old Standard TT"/>
              <a:cs typeface="Old Standard TT"/>
              <a:sym typeface="Old Standard TT"/>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latin typeface="Old Standard TT"/>
                <a:ea typeface="Old Standard TT"/>
                <a:cs typeface="Old Standard TT"/>
                <a:sym typeface="Old Standard TT"/>
              </a:rPr>
              <a:t>Saves query + response(s) + timestamp to session['chat_history']</a:t>
            </a:r>
            <a:endParaRPr>
              <a:solidFill>
                <a:schemeClr val="dk1"/>
              </a:solidFill>
              <a:latin typeface="Old Standard TT"/>
              <a:ea typeface="Old Standard TT"/>
              <a:cs typeface="Old Standard TT"/>
              <a:sym typeface="Old Standard TT"/>
            </a:endParaRPr>
          </a:p>
          <a:p>
            <a:pPr indent="-317500" lvl="0" marL="457200" rtl="0" algn="l">
              <a:lnSpc>
                <a:spcPct val="115000"/>
              </a:lnSpc>
              <a:spcBef>
                <a:spcPts val="0"/>
              </a:spcBef>
              <a:spcAft>
                <a:spcPts val="0"/>
              </a:spcAft>
              <a:buClr>
                <a:schemeClr val="dk1"/>
              </a:buClr>
              <a:buSzPts val="1400"/>
              <a:buChar char="●"/>
            </a:pPr>
            <a:r>
              <a:rPr lang="en">
                <a:solidFill>
                  <a:schemeClr val="dk1"/>
                </a:solidFill>
                <a:latin typeface="Old Standard TT"/>
                <a:ea typeface="Old Standard TT"/>
                <a:cs typeface="Old Standard TT"/>
                <a:sym typeface="Old Standard TT"/>
              </a:rPr>
              <a:t>Uses markdown() to render summaries with HTML formatting.</a:t>
            </a:r>
            <a:endParaRPr>
              <a:solidFill>
                <a:schemeClr val="dk1"/>
              </a:solidFill>
              <a:latin typeface="Old Standard TT"/>
              <a:ea typeface="Old Standard TT"/>
              <a:cs typeface="Old Standard TT"/>
              <a:sym typeface="Old Standard TT"/>
            </a:endParaRPr>
          </a:p>
          <a:p>
            <a:pPr indent="0" lvl="0" marL="0" rtl="0" algn="l">
              <a:lnSpc>
                <a:spcPct val="115000"/>
              </a:lnSpc>
              <a:spcBef>
                <a:spcPts val="1400"/>
              </a:spcBef>
              <a:spcAft>
                <a:spcPts val="0"/>
              </a:spcAft>
              <a:buNone/>
            </a:pPr>
            <a:r>
              <a:rPr b="1" lang="en" sz="1600">
                <a:solidFill>
                  <a:schemeClr val="dk1"/>
                </a:solidFill>
                <a:latin typeface="Old Standard TT"/>
                <a:ea typeface="Old Standard TT"/>
                <a:cs typeface="Old Standard TT"/>
                <a:sym typeface="Old Standard TT"/>
              </a:rPr>
              <a:t>8. Rendering (Frontend)</a:t>
            </a:r>
            <a:endParaRPr b="1" sz="1600">
              <a:solidFill>
                <a:schemeClr val="dk1"/>
              </a:solidFill>
              <a:latin typeface="Old Standard TT"/>
              <a:ea typeface="Old Standard TT"/>
              <a:cs typeface="Old Standard TT"/>
              <a:sym typeface="Old Standard TT"/>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latin typeface="Old Standard TT"/>
                <a:ea typeface="Old Standard TT"/>
                <a:cs typeface="Old Standard TT"/>
                <a:sym typeface="Old Standard TT"/>
              </a:rPr>
              <a:t>Renders index.html with:</a:t>
            </a:r>
            <a:endParaRPr>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Current result</a:t>
            </a:r>
            <a:endParaRPr>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User query</a:t>
            </a:r>
            <a:br>
              <a:rPr lang="en">
                <a:solidFill>
                  <a:schemeClr val="dk1"/>
                </a:solidFill>
                <a:latin typeface="Old Standard TT"/>
                <a:ea typeface="Old Standard TT"/>
                <a:cs typeface="Old Standard TT"/>
                <a:sym typeface="Old Standard TT"/>
              </a:rPr>
            </a:br>
            <a:r>
              <a:rPr lang="en">
                <a:solidFill>
                  <a:schemeClr val="dk1"/>
                </a:solidFill>
                <a:latin typeface="Old Standard TT"/>
                <a:ea typeface="Old Standard TT"/>
                <a:cs typeface="Old Standard TT"/>
                <a:sym typeface="Old Standard TT"/>
              </a:rPr>
              <a:t>Session chat history (with summaries formatted as Markdown)</a:t>
            </a:r>
            <a:endParaRPr b="1">
              <a:solidFill>
                <a:schemeClr val="dk1"/>
              </a:solidFill>
              <a:latin typeface="Old Standard TT"/>
              <a:ea typeface="Old Standard TT"/>
              <a:cs typeface="Old Standard TT"/>
              <a:sym typeface="Old Standard T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703"/>
              <a:buNone/>
            </a:pPr>
            <a:r>
              <a:rPr b="1" lang="en"/>
              <a:t>Novelty</a:t>
            </a:r>
            <a:endParaRPr b="1"/>
          </a:p>
        </p:txBody>
      </p:sp>
      <p:sp>
        <p:nvSpPr>
          <p:cNvPr id="156" name="Google Shape;156;p29"/>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Use of BNS laws instead of IPC laws. Recently, IPC has been invalidated but most of the existing chatbots still refer to IPC while responding to </a:t>
            </a:r>
            <a:r>
              <a:rPr lang="en"/>
              <a:t>queries.</a:t>
            </a:r>
            <a:endParaRPr/>
          </a:p>
          <a:p>
            <a:pPr indent="-342900" lvl="0" marL="457200" rtl="0" algn="l">
              <a:lnSpc>
                <a:spcPct val="115000"/>
              </a:lnSpc>
              <a:spcBef>
                <a:spcPts val="0"/>
              </a:spcBef>
              <a:spcAft>
                <a:spcPts val="0"/>
              </a:spcAft>
              <a:buSzPts val="1800"/>
              <a:buChar char="●"/>
            </a:pPr>
            <a:r>
              <a:rPr lang="en"/>
              <a:t>Our legal assistant refers to BNS laws and responds with the appropriate laws.</a:t>
            </a:r>
            <a:endParaRPr/>
          </a:p>
          <a:p>
            <a:pPr indent="-342900" lvl="0" marL="457200" rtl="0" algn="l">
              <a:lnSpc>
                <a:spcPct val="115000"/>
              </a:lnSpc>
              <a:spcBef>
                <a:spcPts val="0"/>
              </a:spcBef>
              <a:spcAft>
                <a:spcPts val="0"/>
              </a:spcAft>
              <a:buSzPts val="1800"/>
              <a:buChar char="●"/>
            </a:pPr>
            <a:r>
              <a:rPr lang="en"/>
              <a:t>Our legal assistant also provides actions that can be taken against the criminal instead of just stating the laws under which the orchestrator of the crime can be brought to justice.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25995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a:t>
            </a:r>
            <a:endParaRPr b="1"/>
          </a:p>
        </p:txBody>
      </p:sp>
      <p:sp>
        <p:nvSpPr>
          <p:cNvPr id="162" name="Google Shape;162;p30"/>
          <p:cNvSpPr txBox="1"/>
          <p:nvPr>
            <p:ph idx="1" type="body"/>
          </p:nvPr>
        </p:nvSpPr>
        <p:spPr>
          <a:xfrm>
            <a:off x="311700" y="873150"/>
            <a:ext cx="8520600" cy="33972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None/>
            </a:pPr>
            <a:r>
              <a:rPr lang="en" sz="1300">
                <a:solidFill>
                  <a:schemeClr val="dk1"/>
                </a:solidFill>
              </a:rPr>
              <a:t>This project successfully demonstrates the power of Retrieval-Augmented Generation (RAG) in building a practical, user-centric legal assistant tailored to the needs of the Indian population. By integrating natural language understanding with a robust database of BNS (Bharatiya Nyaya Sanhita) legal sections, the system bridges the gap between complex legal texts and everyday citizens seeking justice.</a:t>
            </a:r>
            <a:endParaRPr sz="1300">
              <a:solidFill>
                <a:schemeClr val="dk1"/>
              </a:solidFill>
            </a:endParaRPr>
          </a:p>
          <a:p>
            <a:pPr indent="0" lvl="0" marL="0" rtl="0" algn="l">
              <a:lnSpc>
                <a:spcPct val="95000"/>
              </a:lnSpc>
              <a:spcBef>
                <a:spcPts val="1200"/>
              </a:spcBef>
              <a:spcAft>
                <a:spcPts val="0"/>
              </a:spcAft>
              <a:buNone/>
            </a:pPr>
            <a:r>
              <a:rPr lang="en" sz="1300">
                <a:solidFill>
                  <a:schemeClr val="dk1"/>
                </a:solidFill>
              </a:rPr>
              <a:t>Our main goal was to </a:t>
            </a:r>
            <a:r>
              <a:rPr b="1" lang="en" sz="1300">
                <a:solidFill>
                  <a:schemeClr val="dk1"/>
                </a:solidFill>
              </a:rPr>
              <a:t>educate the common man</a:t>
            </a:r>
            <a:r>
              <a:rPr lang="en" sz="1300">
                <a:solidFill>
                  <a:schemeClr val="dk1"/>
                </a:solidFill>
              </a:rPr>
              <a:t> about the new BNS legal code, and this system achieves that by:</a:t>
            </a:r>
            <a:endParaRPr sz="1300">
              <a:solidFill>
                <a:schemeClr val="dk1"/>
              </a:solidFill>
            </a:endParaRPr>
          </a:p>
          <a:p>
            <a:pPr indent="-311150" lvl="0" marL="457200" rtl="0" algn="l">
              <a:lnSpc>
                <a:spcPct val="95000"/>
              </a:lnSpc>
              <a:spcBef>
                <a:spcPts val="1200"/>
              </a:spcBef>
              <a:spcAft>
                <a:spcPts val="0"/>
              </a:spcAft>
              <a:buClr>
                <a:schemeClr val="dk1"/>
              </a:buClr>
              <a:buSzPts val="1300"/>
              <a:buChar char="●"/>
            </a:pPr>
            <a:r>
              <a:rPr lang="en" sz="1300">
                <a:solidFill>
                  <a:schemeClr val="dk1"/>
                </a:solidFill>
              </a:rPr>
              <a:t>Accepting everyday language queries from users,</a:t>
            </a:r>
            <a:br>
              <a:rPr lang="en" sz="1300">
                <a:solidFill>
                  <a:schemeClr val="dk1"/>
                </a:solidFill>
              </a:rPr>
            </a:br>
            <a:endParaRPr sz="1300">
              <a:solidFill>
                <a:schemeClr val="dk1"/>
              </a:solidFill>
            </a:endParaRPr>
          </a:p>
          <a:p>
            <a:pPr indent="-311150" lvl="0" marL="457200" rtl="0" algn="l">
              <a:lnSpc>
                <a:spcPct val="95000"/>
              </a:lnSpc>
              <a:spcBef>
                <a:spcPts val="0"/>
              </a:spcBef>
              <a:spcAft>
                <a:spcPts val="0"/>
              </a:spcAft>
              <a:buClr>
                <a:schemeClr val="dk1"/>
              </a:buClr>
              <a:buSzPts val="1300"/>
              <a:buChar char="●"/>
            </a:pPr>
            <a:r>
              <a:rPr lang="en" sz="1300">
                <a:solidFill>
                  <a:schemeClr val="dk1"/>
                </a:solidFill>
              </a:rPr>
              <a:t>Mapping them to relevant legal sections through both exact and semantic matching,</a:t>
            </a:r>
            <a:br>
              <a:rPr lang="en" sz="1300">
                <a:solidFill>
                  <a:schemeClr val="dk1"/>
                </a:solidFill>
              </a:rPr>
            </a:br>
            <a:endParaRPr sz="1300">
              <a:solidFill>
                <a:schemeClr val="dk1"/>
              </a:solidFill>
            </a:endParaRPr>
          </a:p>
          <a:p>
            <a:pPr indent="-311150" lvl="0" marL="457200" rtl="0" algn="l">
              <a:lnSpc>
                <a:spcPct val="95000"/>
              </a:lnSpc>
              <a:spcBef>
                <a:spcPts val="0"/>
              </a:spcBef>
              <a:spcAft>
                <a:spcPts val="0"/>
              </a:spcAft>
              <a:buClr>
                <a:schemeClr val="dk1"/>
              </a:buClr>
              <a:buSzPts val="1300"/>
              <a:buChar char="●"/>
            </a:pPr>
            <a:r>
              <a:rPr lang="en" sz="1300">
                <a:solidFill>
                  <a:schemeClr val="dk1"/>
                </a:solidFill>
              </a:rPr>
              <a:t>And generating clear, actionable responses using Groq’s LLM.</a:t>
            </a:r>
            <a:br>
              <a:rPr lang="en" sz="1300">
                <a:solidFill>
                  <a:schemeClr val="dk1"/>
                </a:solidFill>
              </a:rPr>
            </a:br>
            <a:endParaRPr sz="1300">
              <a:solidFill>
                <a:schemeClr val="dk1"/>
              </a:solidFill>
            </a:endParaRPr>
          </a:p>
          <a:p>
            <a:pPr indent="0" lvl="0" marL="0" rtl="0" algn="l">
              <a:lnSpc>
                <a:spcPct val="95000"/>
              </a:lnSpc>
              <a:spcBef>
                <a:spcPts val="1200"/>
              </a:spcBef>
              <a:spcAft>
                <a:spcPts val="0"/>
              </a:spcAft>
              <a:buNone/>
            </a:pPr>
            <a:r>
              <a:rPr lang="en" sz="1300">
                <a:solidFill>
                  <a:schemeClr val="dk1"/>
                </a:solidFill>
              </a:rPr>
              <a:t>In addition, the chatbot suggests what steps a victim can take and highlights the legal provisions that protect them, fostering awareness and empowerment. With this tool, we move a step closer to </a:t>
            </a:r>
            <a:r>
              <a:rPr b="1" lang="en" sz="1300">
                <a:solidFill>
                  <a:schemeClr val="dk1"/>
                </a:solidFill>
              </a:rPr>
              <a:t>making law more accessible, transparent, and understandable for all</a:t>
            </a:r>
            <a:r>
              <a:rPr lang="en" sz="1300">
                <a:solidFill>
                  <a:schemeClr val="dk1"/>
                </a:solidFill>
              </a:rPr>
              <a:t>, especially those unfamiliar with legal jargon.</a:t>
            </a:r>
            <a:endParaRPr sz="1300">
              <a:solidFill>
                <a:schemeClr val="dk1"/>
              </a:solidFill>
            </a:endParaRPr>
          </a:p>
          <a:p>
            <a:pPr indent="0" lvl="0" marL="0" rtl="0" algn="l">
              <a:lnSpc>
                <a:spcPct val="95000"/>
              </a:lnSpc>
              <a:spcBef>
                <a:spcPts val="1200"/>
              </a:spcBef>
              <a:spcAft>
                <a:spcPts val="1200"/>
              </a:spcAft>
              <a:buNone/>
            </a:pPr>
            <a:r>
              <a:rPr lang="en" sz="1300">
                <a:solidFill>
                  <a:schemeClr val="dk1"/>
                </a:solidFill>
              </a:rPr>
              <a:t>The project lays the foundation for scalable legal assistance tools and can be further enhanced by integrating multilingual support, case tracking, and real-time legal updates—continuing our mission to bring </a:t>
            </a:r>
            <a:r>
              <a:rPr b="1" lang="en" sz="1300">
                <a:solidFill>
                  <a:schemeClr val="dk1"/>
                </a:solidFill>
              </a:rPr>
              <a:t>legal literacy to every doorstep in India</a:t>
            </a:r>
            <a:r>
              <a:rPr lang="en" sz="1300">
                <a:solidFill>
                  <a:schemeClr val="dk1"/>
                </a:solidFill>
              </a:rPr>
              <a:t>.</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26510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a:t>
            </a:r>
            <a:endParaRPr b="1"/>
          </a:p>
        </p:txBody>
      </p:sp>
      <p:pic>
        <p:nvPicPr>
          <p:cNvPr id="168" name="Google Shape;168;p31"/>
          <p:cNvPicPr preferRelativeResize="0"/>
          <p:nvPr/>
        </p:nvPicPr>
        <p:blipFill>
          <a:blip r:embed="rId3">
            <a:alphaModFix/>
          </a:blip>
          <a:stretch>
            <a:fillRect/>
          </a:stretch>
        </p:blipFill>
        <p:spPr>
          <a:xfrm>
            <a:off x="919763" y="878300"/>
            <a:ext cx="7304477" cy="391092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26510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a:t>
            </a:r>
            <a:endParaRPr b="1"/>
          </a:p>
        </p:txBody>
      </p:sp>
      <p:pic>
        <p:nvPicPr>
          <p:cNvPr id="174" name="Google Shape;174;p32"/>
          <p:cNvPicPr preferRelativeResize="0"/>
          <p:nvPr/>
        </p:nvPicPr>
        <p:blipFill>
          <a:blip r:embed="rId3">
            <a:alphaModFix/>
          </a:blip>
          <a:stretch>
            <a:fillRect/>
          </a:stretch>
        </p:blipFill>
        <p:spPr>
          <a:xfrm>
            <a:off x="865462" y="878301"/>
            <a:ext cx="7413076" cy="39752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3"/>
          <p:cNvSpPr txBox="1"/>
          <p:nvPr>
            <p:ph type="title"/>
          </p:nvPr>
        </p:nvSpPr>
        <p:spPr>
          <a:xfrm>
            <a:off x="311700" y="26510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a:t>
            </a:r>
            <a:endParaRPr b="1"/>
          </a:p>
        </p:txBody>
      </p:sp>
      <p:pic>
        <p:nvPicPr>
          <p:cNvPr id="180" name="Google Shape;180;p33"/>
          <p:cNvPicPr preferRelativeResize="0"/>
          <p:nvPr/>
        </p:nvPicPr>
        <p:blipFill>
          <a:blip r:embed="rId3">
            <a:alphaModFix/>
          </a:blip>
          <a:stretch>
            <a:fillRect/>
          </a:stretch>
        </p:blipFill>
        <p:spPr>
          <a:xfrm>
            <a:off x="873575" y="878300"/>
            <a:ext cx="7396858" cy="39604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Individual Contribution</a:t>
            </a:r>
            <a:endParaRPr b="1"/>
          </a:p>
        </p:txBody>
      </p:sp>
      <p:graphicFrame>
        <p:nvGraphicFramePr>
          <p:cNvPr id="186" name="Google Shape;186;p34"/>
          <p:cNvGraphicFramePr/>
          <p:nvPr/>
        </p:nvGraphicFramePr>
        <p:xfrm>
          <a:off x="952500" y="1809750"/>
          <a:ext cx="3000000" cy="3000000"/>
        </p:xfrm>
        <a:graphic>
          <a:graphicData uri="http://schemas.openxmlformats.org/drawingml/2006/table">
            <a:tbl>
              <a:tblPr>
                <a:noFill/>
                <a:tableStyleId>{0C912298-9140-4E2E-9BE6-FB8BE352CC43}</a:tableStyleId>
              </a:tblPr>
              <a:tblGrid>
                <a:gridCol w="3619500"/>
                <a:gridCol w="3619500"/>
              </a:tblGrid>
              <a:tr h="381000">
                <a:tc>
                  <a:txBody>
                    <a:bodyPr/>
                    <a:lstStyle/>
                    <a:p>
                      <a:pPr indent="0" lvl="0" marL="0" rtl="0" algn="l">
                        <a:spcBef>
                          <a:spcPts val="0"/>
                        </a:spcBef>
                        <a:spcAft>
                          <a:spcPts val="0"/>
                        </a:spcAft>
                        <a:buNone/>
                      </a:pPr>
                      <a:r>
                        <a:rPr lang="en">
                          <a:latin typeface="Old Standard TT"/>
                          <a:ea typeface="Old Standard TT"/>
                          <a:cs typeface="Old Standard TT"/>
                          <a:sym typeface="Old Standard TT"/>
                        </a:rPr>
                        <a:t>Rithvik Muthyalapati</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Web Scraping and RAG</a:t>
                      </a:r>
                      <a:endParaRPr>
                        <a:latin typeface="Old Standard TT"/>
                        <a:ea typeface="Old Standard TT"/>
                        <a:cs typeface="Old Standard TT"/>
                        <a:sym typeface="Old Standard TT"/>
                      </a:endParaRPr>
                    </a:p>
                  </a:txBody>
                  <a:tcPr marT="91425" marB="91425" marR="91425" marL="91425"/>
                </a:tc>
              </a:tr>
              <a:tr h="381000">
                <a:tc>
                  <a:txBody>
                    <a:bodyPr/>
                    <a:lstStyle/>
                    <a:p>
                      <a:pPr indent="0" lvl="0" marL="0" rtl="0" algn="l">
                        <a:spcBef>
                          <a:spcPts val="0"/>
                        </a:spcBef>
                        <a:spcAft>
                          <a:spcPts val="0"/>
                        </a:spcAft>
                        <a:buNone/>
                      </a:pPr>
                      <a:r>
                        <a:rPr lang="en">
                          <a:latin typeface="Old Standard TT"/>
                          <a:ea typeface="Old Standard TT"/>
                          <a:cs typeface="Old Standard TT"/>
                          <a:sym typeface="Old Standard TT"/>
                        </a:rPr>
                        <a:t>Rohan S</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Web D</a:t>
                      </a:r>
                      <a:r>
                        <a:rPr lang="en">
                          <a:latin typeface="Old Standard TT"/>
                          <a:ea typeface="Old Standard TT"/>
                          <a:cs typeface="Old Standard TT"/>
                          <a:sym typeface="Old Standard TT"/>
                        </a:rPr>
                        <a:t>esign</a:t>
                      </a:r>
                      <a:r>
                        <a:rPr lang="en">
                          <a:latin typeface="Old Standard TT"/>
                          <a:ea typeface="Old Standard TT"/>
                          <a:cs typeface="Old Standard TT"/>
                          <a:sym typeface="Old Standard TT"/>
                        </a:rPr>
                        <a:t> and Response Generation</a:t>
                      </a:r>
                      <a:endParaRPr>
                        <a:latin typeface="Old Standard TT"/>
                        <a:ea typeface="Old Standard TT"/>
                        <a:cs typeface="Old Standard TT"/>
                        <a:sym typeface="Old Standard TT"/>
                      </a:endParaRPr>
                    </a:p>
                  </a:txBody>
                  <a:tcPr marT="91425" marB="91425" marR="91425" marL="91425"/>
                </a:tc>
              </a:tr>
              <a:tr h="381000">
                <a:tc>
                  <a:txBody>
                    <a:bodyPr/>
                    <a:lstStyle/>
                    <a:p>
                      <a:pPr indent="0" lvl="0" marL="0" rtl="0" algn="l">
                        <a:spcBef>
                          <a:spcPts val="0"/>
                        </a:spcBef>
                        <a:spcAft>
                          <a:spcPts val="0"/>
                        </a:spcAft>
                        <a:buNone/>
                      </a:pPr>
                      <a:r>
                        <a:rPr lang="en">
                          <a:latin typeface="Old Standard TT"/>
                          <a:ea typeface="Old Standard TT"/>
                          <a:cs typeface="Old Standard TT"/>
                          <a:sym typeface="Old Standard TT"/>
                        </a:rPr>
                        <a:t>Rishi Subramanya Nandagiri</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Query Processing</a:t>
                      </a:r>
                      <a:endParaRPr>
                        <a:latin typeface="Old Standard TT"/>
                        <a:ea typeface="Old Standard TT"/>
                        <a:cs typeface="Old Standard TT"/>
                        <a:sym typeface="Old Standard TT"/>
                      </a:endParaRPr>
                    </a:p>
                  </a:txBody>
                  <a:tcPr marT="91425" marB="91425" marR="91425" marL="91425"/>
                </a:tc>
              </a:tr>
              <a:tr h="381000">
                <a:tc>
                  <a:txBody>
                    <a:bodyPr/>
                    <a:lstStyle/>
                    <a:p>
                      <a:pPr indent="0" lvl="0" marL="0" rtl="0" algn="l">
                        <a:spcBef>
                          <a:spcPts val="0"/>
                        </a:spcBef>
                        <a:spcAft>
                          <a:spcPts val="0"/>
                        </a:spcAft>
                        <a:buNone/>
                      </a:pPr>
                      <a:r>
                        <a:rPr lang="en">
                          <a:latin typeface="Old Standard TT"/>
                          <a:ea typeface="Old Standard TT"/>
                          <a:cs typeface="Old Standard TT"/>
                          <a:sym typeface="Old Standard TT"/>
                        </a:rPr>
                        <a:t>Rhushya KC</a:t>
                      </a:r>
                      <a:endParaRPr>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a:latin typeface="Old Standard TT"/>
                          <a:ea typeface="Old Standard TT"/>
                          <a:cs typeface="Old Standard TT"/>
                          <a:sym typeface="Old Standard TT"/>
                        </a:rPr>
                        <a:t>Embedding and DB Storage</a:t>
                      </a:r>
                      <a:endParaRPr>
                        <a:latin typeface="Old Standard TT"/>
                        <a:ea typeface="Old Standard TT"/>
                        <a:cs typeface="Old Standard TT"/>
                        <a:sym typeface="Old Standard TT"/>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References</a:t>
            </a:r>
            <a:endParaRPr b="1"/>
          </a:p>
        </p:txBody>
      </p:sp>
      <p:sp>
        <p:nvSpPr>
          <p:cNvPr id="192" name="Google Shape;192;p3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sz="1400"/>
              <a:t>LAWBOT: A Smart User Indian Legal Chatbot using Machine Learning Framework</a:t>
            </a:r>
            <a:endParaRPr sz="1400"/>
          </a:p>
          <a:p>
            <a:pPr indent="-317500" lvl="0" marL="457200" rtl="0" algn="l">
              <a:lnSpc>
                <a:spcPct val="123913"/>
              </a:lnSpc>
              <a:spcBef>
                <a:spcPts val="0"/>
              </a:spcBef>
              <a:spcAft>
                <a:spcPts val="0"/>
              </a:spcAft>
              <a:buClr>
                <a:srgbClr val="333333"/>
              </a:buClr>
              <a:buSzPts val="1400"/>
              <a:buChar char="❏"/>
            </a:pPr>
            <a:r>
              <a:rPr lang="en" sz="1400">
                <a:solidFill>
                  <a:srgbClr val="333333"/>
                </a:solidFill>
              </a:rPr>
              <a:t>RAG-Based LLM Chatbot Using Llama-2</a:t>
            </a:r>
            <a:endParaRPr sz="1400">
              <a:solidFill>
                <a:srgbClr val="333333"/>
              </a:solidFill>
            </a:endParaRPr>
          </a:p>
          <a:p>
            <a:pPr indent="-317500" lvl="0" marL="457200" rtl="0" algn="l">
              <a:lnSpc>
                <a:spcPct val="100000"/>
              </a:lnSpc>
              <a:spcBef>
                <a:spcPts val="0"/>
              </a:spcBef>
              <a:spcAft>
                <a:spcPts val="0"/>
              </a:spcAft>
              <a:buSzPts val="1400"/>
              <a:buChar char="❏"/>
            </a:pPr>
            <a:r>
              <a:rPr lang="en" sz="1400"/>
              <a:t>Generative vs Intent-based Chatbot for Judicial Advice 2024 IEEE 9th International Conference for Convergence in Technology (I2CT)</a:t>
            </a:r>
            <a:endParaRPr sz="1400"/>
          </a:p>
          <a:p>
            <a:pPr indent="-317500" lvl="0" marL="457200" rtl="0" algn="l">
              <a:lnSpc>
                <a:spcPct val="123913"/>
              </a:lnSpc>
              <a:spcBef>
                <a:spcPts val="0"/>
              </a:spcBef>
              <a:spcAft>
                <a:spcPts val="0"/>
              </a:spcAft>
              <a:buClr>
                <a:srgbClr val="333333"/>
              </a:buClr>
              <a:buSzPts val="1400"/>
              <a:buChar char="❏"/>
            </a:pPr>
            <a:r>
              <a:rPr lang="en" sz="1400">
                <a:solidFill>
                  <a:srgbClr val="333333"/>
                </a:solidFill>
              </a:rPr>
              <a:t>Optimizing Legal Information Access: Federated Search and RAG for Secure AI-Powered Legal Solutions</a:t>
            </a:r>
            <a:endParaRPr sz="1400">
              <a:solidFill>
                <a:srgbClr val="333333"/>
              </a:solidFill>
            </a:endParaRPr>
          </a:p>
          <a:p>
            <a:pPr indent="-317500" lvl="0" marL="457200" rtl="0" algn="l">
              <a:lnSpc>
                <a:spcPct val="100000"/>
              </a:lnSpc>
              <a:spcBef>
                <a:spcPts val="0"/>
              </a:spcBef>
              <a:spcAft>
                <a:spcPts val="0"/>
              </a:spcAft>
              <a:buSzPts val="1400"/>
              <a:buChar char="❏"/>
            </a:pPr>
            <a:r>
              <a:rPr lang="en" sz="1400"/>
              <a:t>Legal Assistance Redefined: Transforming Legal Access with AI-Powered LegalLink </a:t>
            </a:r>
            <a:r>
              <a:rPr lang="en" sz="1400" u="sng">
                <a:solidFill>
                  <a:srgbClr val="006699"/>
                </a:solidFill>
                <a:hlinkClick r:id="rId3">
                  <a:extLst>
                    <a:ext uri="{A12FA001-AC4F-418D-AE19-62706E023703}">
                      <ahyp:hlinkClr val="tx"/>
                    </a:ext>
                  </a:extLst>
                </a:hlinkClick>
              </a:rPr>
              <a:t>2024 IEEE International Conference on Signal Processing, Informatics, Communication and Energy Systems (SPICES)</a:t>
            </a:r>
            <a:endParaRPr sz="1400"/>
          </a:p>
          <a:p>
            <a:pPr indent="0" lvl="0" marL="0" rtl="0" algn="l">
              <a:lnSpc>
                <a:spcPct val="123913"/>
              </a:lnSpc>
              <a:spcBef>
                <a:spcPts val="0"/>
              </a:spcBef>
              <a:spcAft>
                <a:spcPts val="0"/>
              </a:spcAft>
              <a:buClr>
                <a:schemeClr val="dk1"/>
              </a:buClr>
              <a:buSzPts val="1100"/>
              <a:buFont typeface="Arial"/>
              <a:buNone/>
            </a:pPr>
            <a:r>
              <a:t/>
            </a:r>
            <a:endParaRPr sz="1400">
              <a:solidFill>
                <a:srgbClr val="333333"/>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ph type="ctrTitle"/>
          </p:nvPr>
        </p:nvSpPr>
        <p:spPr>
          <a:xfrm>
            <a:off x="354058" y="83722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b="1" lang="en"/>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